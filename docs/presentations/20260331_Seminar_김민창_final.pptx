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606" r:id="rId3"/>
    <p:sldId id="613" r:id="rId4"/>
    <p:sldId id="618" r:id="rId5"/>
    <p:sldId id="621" r:id="rId6"/>
    <p:sldId id="623" r:id="rId7"/>
    <p:sldId id="624" r:id="rId8"/>
    <p:sldId id="627" r:id="rId9"/>
    <p:sldId id="617" r:id="rId10"/>
    <p:sldId id="622" r:id="rId11"/>
    <p:sldId id="625" r:id="rId12"/>
    <p:sldId id="614" r:id="rId13"/>
    <p:sldId id="615" r:id="rId14"/>
    <p:sldId id="619" r:id="rId15"/>
  </p:sldIdLst>
  <p:sldSz cx="12192000" cy="6858000"/>
  <p:notesSz cx="6858000" cy="9144000"/>
  <p:embeddedFontLst>
    <p:embeddedFont>
      <p:font typeface="맑은 고딕" panose="020B0503020000020004" pitchFamily="34" charset="-127"/>
      <p:regular r:id="rId17"/>
      <p:bold r:id="rId18"/>
    </p:embeddedFont>
    <p:embeddedFont>
      <p:font typeface="Cambria Math" panose="02040503050406030204" pitchFamily="18" charset="0"/>
      <p:regular r:id="rId19"/>
    </p:embeddedFon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roboto" panose="02000000000000000000" pitchFamily="2" charset="0"/>
      <p:regular r:id="rId24"/>
      <p:bold r:id="rId25"/>
      <p:italic r:id="rId26"/>
      <p:boldItalic r:id="rId27"/>
    </p:embeddedFont>
    <p:embeddedFont>
      <p:font typeface="Roboto Black" panose="02000000000000000000" pitchFamily="2" charset="0"/>
      <p:bold r:id="rId28"/>
      <p:italic r:id="rId29"/>
      <p:boldItalic r:id="rId30"/>
    </p:embeddedFont>
  </p:embeddedFontLst>
  <p:kinsoku lang="ko-KR" invalStChars="、。，．：；？！’”）〕］｝〉》」』】°℃％!%￠),.:;?]}&gt;" invalEndChars="‘“（〔［｛〈《「『【￥＄\￦￡€([{&lt;$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4080" userDrawn="1">
          <p15:clr>
            <a:srgbClr val="A4A3A4"/>
          </p15:clr>
        </p15:guide>
        <p15:guide id="3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만든 이" initials="오전" lastIdx="0" clrIdx="1"/>
  <p:cmAuthor id="3" name="오영환" initials="오" lastIdx="1" clrIdx="2">
    <p:extLst>
      <p:ext uri="{19B8F6BF-5375-455C-9EA6-DF929625EA0E}">
        <p15:presenceInfo xmlns:p15="http://schemas.microsoft.com/office/powerpoint/2012/main" userId="S::younghwan@o365.skku.edu::b56430a2-ce48-4902-9b5b-3234a737611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1C5"/>
    <a:srgbClr val="0F0F70"/>
    <a:srgbClr val="01A248"/>
    <a:srgbClr val="0E0E70"/>
    <a:srgbClr val="428DC1"/>
    <a:srgbClr val="1C991C"/>
    <a:srgbClr val="FF8005"/>
    <a:srgbClr val="A8D7A8"/>
    <a:srgbClr val="00A249"/>
    <a:srgbClr val="3F90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185" autoAdjust="0"/>
    <p:restoredTop sz="78750" autoAdjust="0"/>
  </p:normalViewPr>
  <p:slideViewPr>
    <p:cSldViewPr snapToGrid="0" showGuides="1">
      <p:cViewPr>
        <p:scale>
          <a:sx n="84" d="100"/>
          <a:sy n="84" d="100"/>
        </p:scale>
        <p:origin x="144" y="1224"/>
      </p:cViewPr>
      <p:guideLst>
        <p:guide pos="4080"/>
        <p:guide orient="horz" pos="1656"/>
      </p:guideLst>
    </p:cSldViewPr>
  </p:slideViewPr>
  <p:outlineViewPr>
    <p:cViewPr>
      <p:scale>
        <a:sx n="33" d="100"/>
        <a:sy n="33" d="100"/>
      </p:scale>
      <p:origin x="0" y="-2044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>
        <p:scale>
          <a:sx n="87" d="100"/>
          <a:sy n="87" d="100"/>
        </p:scale>
        <p:origin x="3840" y="6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653B65-7BB5-4D60-9879-5AFC8E04B446}" type="datetimeFigureOut">
              <a:rPr lang="ko-KR" altLang="en-US" smtClean="0"/>
              <a:t>2026. 3. 31.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B6E87F-228F-44B2-B4EE-9BD47B249A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03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altLang="ko-KR" dirty="0"/>
              <a:t>"</a:t>
            </a:r>
            <a:r>
              <a:rPr lang="ko-KR" altLang="en-US" dirty="0"/>
              <a:t>안녕하십니까</a:t>
            </a:r>
            <a:r>
              <a:rPr lang="en-US" altLang="ko-KR" dirty="0"/>
              <a:t>, WISE </a:t>
            </a:r>
            <a:r>
              <a:rPr lang="ko-KR" altLang="en-US" dirty="0"/>
              <a:t>세미나 발표를 맡은 </a:t>
            </a:r>
            <a:r>
              <a:rPr lang="ko-KR" altLang="en-US" dirty="0" err="1"/>
              <a:t>김민창입니다</a:t>
            </a:r>
            <a:r>
              <a:rPr lang="en-US" altLang="ko-KR" dirty="0"/>
              <a:t>. </a:t>
            </a:r>
            <a:r>
              <a:rPr lang="ko-KR" altLang="en-US" dirty="0"/>
              <a:t>오늘 제가 발표할 주제는 **</a:t>
            </a:r>
            <a:r>
              <a:rPr lang="en-US" altLang="ko-KR" dirty="0"/>
              <a:t>'</a:t>
            </a:r>
            <a:r>
              <a:rPr lang="ko-KR" altLang="en-US" dirty="0"/>
              <a:t>재구성</a:t>
            </a:r>
            <a:r>
              <a:rPr lang="en-US" altLang="ko-KR" dirty="0"/>
              <a:t>(Reconstruction)</a:t>
            </a:r>
            <a:r>
              <a:rPr lang="ko-KR" altLang="en-US" dirty="0"/>
              <a:t>을 통한 </a:t>
            </a:r>
            <a:r>
              <a:rPr lang="en-US" altLang="ko-KR" dirty="0"/>
              <a:t>GNN-IP </a:t>
            </a:r>
            <a:r>
              <a:rPr lang="ko-KR" altLang="en-US" dirty="0"/>
              <a:t>추론 최적화</a:t>
            </a:r>
            <a:r>
              <a:rPr lang="en-US" altLang="ko-KR" dirty="0"/>
              <a:t>(Inference Optimization)'**</a:t>
            </a:r>
            <a:r>
              <a:rPr lang="ko-KR" altLang="en-US" dirty="0"/>
              <a:t>입니다</a:t>
            </a:r>
            <a:r>
              <a:rPr lang="en-US" altLang="ko-KR" dirty="0"/>
              <a:t>."</a:t>
            </a:r>
            <a:endParaRPr lang="en-US" altLang="ko-KR" sz="1200" b="0" i="0" u="none" strike="noStrike" kern="1400" dirty="0">
              <a:latin typeface="+mn-lt"/>
              <a:ea typeface="맑은 고딕" panose="020B0503020000020004" pitchFamily="34" charset="-127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6E87F-228F-44B2-B4EE-9BD47B249A9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997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1E340-11CA-FF0E-7943-8151AD239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9C9E45-17F4-28F3-2CA0-1730E683B6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24AE80-0BF1-92D8-0F7F-05E0B3012E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발표는 크게 네 부분으로 진행하겠습니다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앞부분에서는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GNN-IP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맥락과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equivariant model pipeline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짧게 설명하겠습니다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부분은 작업자 외 다른 학생들도 흐름을 따라올 수 있도록 아주 기본적인 수준에서 정리하겠습니다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다음에는 문제 정의와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challenge,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관련 연구를 연결해서 왜 제가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`pair reconstruction`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이라는 방향을 잡았는지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설명드리겠습니다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번째로는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proposed method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파트에서 실제로 무엇을 재사용 대상으로 분류했고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지금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SevenNet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안에서는 어디까지 구현되어 있는지 말씀드리겠습니다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마지막으로는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experiment plan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이라고 적혀 있지만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실제로는 단일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환경에서 이미 돌려본 결과까지 함께 보여드리면서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discussion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마무리하겠습니다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D8014-3BD9-8B1D-92D0-D3AF36FFFC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6E87F-228F-44B2-B4EE-9BD47B249A9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6797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47BEB-C0F7-A148-FC31-DEBD15210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3A9140-98B1-C5A8-1851-5FDB565291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8F8AF9-E9B3-B421-6F99-A74C5859BD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먼저 </a:t>
            </a:r>
            <a:r>
              <a:rPr lang="en-US" altLang="ko-KR" dirty="0"/>
              <a:t>R&amp;D </a:t>
            </a:r>
            <a:r>
              <a:rPr lang="ko-KR" altLang="en-US" dirty="0"/>
              <a:t>제안 개요입니다</a:t>
            </a:r>
            <a:r>
              <a:rPr lang="en-US" altLang="ko-KR" dirty="0"/>
              <a:t>. 3</a:t>
            </a:r>
            <a:r>
              <a:rPr lang="ko-KR" altLang="en-US" dirty="0"/>
              <a:t>차년도의 핵심 목표는 </a:t>
            </a:r>
            <a:r>
              <a:rPr lang="en-US" altLang="ko-KR" b="1" dirty="0"/>
              <a:t>GNN-IP </a:t>
            </a:r>
            <a:r>
              <a:rPr lang="ko-KR" altLang="en-US" b="1" dirty="0"/>
              <a:t>커널 레벨의 최적화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기존의 스탠다드 방식에서 벗어나</a:t>
            </a:r>
            <a:r>
              <a:rPr lang="en-US" altLang="ko-KR" dirty="0"/>
              <a:t>, </a:t>
            </a:r>
            <a:r>
              <a:rPr lang="ko-KR" altLang="en-US" dirty="0"/>
              <a:t>입력 표현 구조</a:t>
            </a:r>
            <a:r>
              <a:rPr lang="en-US" altLang="ko-KR" dirty="0"/>
              <a:t>(Input representation) </a:t>
            </a:r>
            <a:r>
              <a:rPr lang="ko-KR" altLang="en-US" dirty="0"/>
              <a:t>자체를 재구성하여 불필요한 중복 계산을 완전히 제거하고</a:t>
            </a:r>
            <a:r>
              <a:rPr lang="en-US" altLang="ko-KR" dirty="0"/>
              <a:t>, </a:t>
            </a:r>
            <a:r>
              <a:rPr lang="ko-KR" altLang="en-US" dirty="0" err="1"/>
              <a:t>텐서</a:t>
            </a:r>
            <a:r>
              <a:rPr lang="ko-KR" altLang="en-US" dirty="0"/>
              <a:t> 곱</a:t>
            </a:r>
            <a:r>
              <a:rPr lang="en-US" altLang="ko-KR" dirty="0"/>
              <a:t>(TP)</a:t>
            </a:r>
            <a:r>
              <a:rPr lang="ko-KR" altLang="en-US" dirty="0"/>
              <a:t>이 아닌 연산들에 대해서도 </a:t>
            </a:r>
            <a:r>
              <a:rPr lang="en-US" altLang="ko-KR" dirty="0"/>
              <a:t>Triton </a:t>
            </a:r>
            <a:r>
              <a:rPr lang="ko-KR" altLang="en-US" dirty="0"/>
              <a:t>커널 최적화를 수행하는 것을 목표로 합니다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7548D-D1DD-42ED-076A-95605BF51B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6E87F-228F-44B2-B4EE-9BD47B249A9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1103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07E70-C9EE-A0BC-79DA-73ED8C85B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5DD7EF-496E-89E7-6558-210527BAEA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B36537-11CB-7FDE-65F3-B488B727AA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이후 </a:t>
            </a:r>
            <a:r>
              <a:rPr lang="en-US" altLang="ko-KR" dirty="0"/>
              <a:t>4</a:t>
            </a:r>
            <a:r>
              <a:rPr lang="ko-KR" altLang="en-US" dirty="0"/>
              <a:t>차년도에는 시간적 중복성</a:t>
            </a:r>
            <a:r>
              <a:rPr lang="en-US" altLang="ko-KR" dirty="0"/>
              <a:t>(Temporal redundancy)</a:t>
            </a:r>
            <a:r>
              <a:rPr lang="ko-KR" altLang="en-US" dirty="0"/>
              <a:t>을 활용해 학습이 필요 없는 적응형 </a:t>
            </a:r>
            <a:r>
              <a:rPr lang="ko-KR" altLang="en-US" dirty="0" err="1"/>
              <a:t>스킵</a:t>
            </a:r>
            <a:r>
              <a:rPr lang="ko-KR" altLang="en-US" dirty="0"/>
              <a:t> 정책</a:t>
            </a:r>
            <a:r>
              <a:rPr lang="en-US" altLang="ko-KR" dirty="0"/>
              <a:t>(Adaptive skipping policy)</a:t>
            </a:r>
            <a:r>
              <a:rPr lang="ko-KR" altLang="en-US" dirty="0"/>
              <a:t>을 설계하여 런타임을 최적화할 계획입니다</a:t>
            </a:r>
            <a:r>
              <a:rPr lang="en-US" altLang="ko-KR" dirty="0"/>
              <a:t>. </a:t>
            </a:r>
            <a:r>
              <a:rPr lang="ko-KR" altLang="en-US" dirty="0"/>
              <a:t>최종적으로 </a:t>
            </a:r>
            <a:r>
              <a:rPr lang="en-US" altLang="ko-KR" dirty="0"/>
              <a:t>5</a:t>
            </a:r>
            <a:r>
              <a:rPr lang="ko-KR" altLang="en-US" dirty="0"/>
              <a:t>차년도에는 멀티 </a:t>
            </a:r>
            <a:r>
              <a:rPr lang="en-US" altLang="ko-KR" dirty="0"/>
              <a:t>GPU </a:t>
            </a:r>
            <a:r>
              <a:rPr lang="ko-KR" altLang="en-US" dirty="0"/>
              <a:t>및 멀티 노드 시뮬레이션 환경으로 확장하여 대규모 분산 시스템에서도 확장이 가능한</a:t>
            </a:r>
            <a:r>
              <a:rPr lang="en-US" altLang="ko-KR" dirty="0"/>
              <a:t>(Scalable) </a:t>
            </a:r>
            <a:r>
              <a:rPr lang="ko-KR" altLang="en-US" dirty="0"/>
              <a:t>가속을 이뤄내는 것이 전체 로드맵입니다</a:t>
            </a:r>
            <a:r>
              <a:rPr lang="en-US" altLang="ko-KR" dirty="0"/>
              <a:t>."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02E2D-57F9-95B1-D691-7B7CF2156F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6E87F-228F-44B2-B4EE-9BD47B249A9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2556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여기서는 아주 짧게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GNN-IP,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그중에서도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NequIP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equivariant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모델의 추론 파이프라인을 정리하겠습니다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슬라이드는 그림이 세 부분으로 나뉘어 있으니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왼쪽부터 순서대로 보겠습니다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왼쪽 그림은 모델 전체 파이프라인입니다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원자종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`Z`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embedding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들어가서 초기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 feature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만들고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원자 좌표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`r`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각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interaction block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기하 정보를 제공합니다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interaction block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여러 번 반복된 뒤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 block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 pooling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거쳐 최종 에너지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`E`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나옵니다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왼쪽 그림은 모델의 가장 큰 흐름을 보여주는 그림입니다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가운데 그림은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interaction block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하나를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펼쳐놓은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것입니다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여기에는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self-interaction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경로와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convolution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경로가 같이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self-interaction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이웃과 무관한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node-wise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변환이고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convolution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경로가 실제로 이웃 정보를 받아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 passing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수행하는 부분입니다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경로가 합쳐지고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non-linearity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거쳐 다음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block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넘어갑니다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오른쪽 그림은 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convolution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내부를 더 자세히 그린 것입니다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좌표로부터 먼저 두 종류의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edge-side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정보가 만들어집니다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하나는 방향 정보를 담는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spherical harmonics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다른 하나는 거리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출발하는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basis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MLP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이 정보들이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tensor product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들어가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 node feature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결합되면서 실제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equivariant message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생성됩니다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 중요한 점은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spherical harmonics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만드는 단계 자체가 곧바로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생성은 아니라는 것입니다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단계는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`message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생성을 위한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edge attribute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준비하는 단계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생성은 그 다음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tensor product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일어납니다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오늘 이야기할 재사용 가능성도 정확히 이 경계에서 나옵니다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distance, radial basis, cutoff, spherical harmonics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geometry-side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값은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pair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기준으로 재사용 가능성이 있지만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최종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 node feature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의존하므로 그대로 공유할 수 없습니다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구분이 뒤의 제안기법과 실험 해석의 핵심입니다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6E87F-228F-44B2-B4EE-9BD47B249A9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4764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여기서 발생하는</a:t>
            </a:r>
            <a:r>
              <a:rPr lang="ko-KR" altLang="en-US" b="1" dirty="0"/>
              <a:t> 문제점</a:t>
            </a:r>
            <a:r>
              <a:rPr lang="ko-KR" altLang="en-US" dirty="0"/>
              <a:t>을 짚어보겠습니다</a:t>
            </a:r>
            <a:r>
              <a:rPr lang="en-US" altLang="ko-KR" dirty="0"/>
              <a:t>. </a:t>
            </a:r>
            <a:r>
              <a:rPr lang="ko-KR" altLang="en-US" dirty="0"/>
              <a:t>두 원자 간의 거리</a:t>
            </a:r>
            <a:r>
              <a:rPr lang="en-US" altLang="ko-KR" dirty="0"/>
              <a:t>(Distance)</a:t>
            </a:r>
            <a:r>
              <a:rPr lang="ko-KR" altLang="en-US" dirty="0"/>
              <a:t>나 </a:t>
            </a:r>
            <a:r>
              <a:rPr lang="en-US" altLang="ko-KR" dirty="0"/>
              <a:t>Radial basis, Cutoff </a:t>
            </a:r>
            <a:r>
              <a:rPr lang="ko-KR" altLang="en-US" dirty="0"/>
              <a:t>같은 정보는 방향에 상관없는 페어</a:t>
            </a:r>
            <a:r>
              <a:rPr lang="en-US" altLang="ko-KR" dirty="0"/>
              <a:t>(Pair-invariant) </a:t>
            </a:r>
            <a:r>
              <a:rPr lang="ko-KR" altLang="en-US" dirty="0"/>
              <a:t>단위의 특성입니다</a:t>
            </a:r>
            <a:r>
              <a:rPr lang="en-US" altLang="ko-KR" dirty="0"/>
              <a:t>. </a:t>
            </a:r>
            <a:r>
              <a:rPr lang="ko-KR" altLang="en-US" dirty="0"/>
              <a:t>반면 </a:t>
            </a:r>
            <a:r>
              <a:rPr lang="en-US" altLang="ko-KR" dirty="0"/>
              <a:t>Spherical harmonics</a:t>
            </a:r>
            <a:r>
              <a:rPr lang="ko-KR" altLang="en-US" dirty="0"/>
              <a:t>나 </a:t>
            </a:r>
            <a:r>
              <a:rPr lang="en-US" altLang="ko-KR" dirty="0" err="1"/>
              <a:t>NequIP</a:t>
            </a:r>
            <a:r>
              <a:rPr lang="ko-KR" altLang="en-US" dirty="0"/>
              <a:t>의 가중치 필터</a:t>
            </a:r>
            <a:r>
              <a:rPr lang="en-US" altLang="ko-KR" dirty="0"/>
              <a:t>(Weighted filter)</a:t>
            </a:r>
            <a:r>
              <a:rPr lang="ko-KR" altLang="en-US" dirty="0"/>
              <a:t>는 철저히 방향에 의존</a:t>
            </a:r>
            <a:r>
              <a:rPr lang="en-US" altLang="ko-KR" dirty="0"/>
              <a:t>(Direction-dependent)</a:t>
            </a:r>
            <a:r>
              <a:rPr lang="ko-KR" altLang="en-US" dirty="0"/>
              <a:t>합니다</a:t>
            </a:r>
            <a:r>
              <a:rPr lang="en-US" altLang="ko-KR" dirty="0"/>
              <a:t>. </a:t>
            </a:r>
            <a:r>
              <a:rPr lang="ko-KR" altLang="en-US" dirty="0"/>
              <a:t>현재 구조에서는 방향이 다르면 이를 완전히 다른 </a:t>
            </a:r>
            <a:r>
              <a:rPr lang="ko-KR" altLang="en-US" dirty="0" err="1"/>
              <a:t>에지로</a:t>
            </a:r>
            <a:r>
              <a:rPr lang="ko-KR" altLang="en-US" dirty="0"/>
              <a:t> 취급하여 재사용이 불가능</a:t>
            </a:r>
            <a:r>
              <a:rPr lang="en-US" altLang="ko-KR" dirty="0"/>
              <a:t>(Non-reusable)</a:t>
            </a:r>
            <a:r>
              <a:rPr lang="ko-KR" altLang="en-US" dirty="0"/>
              <a:t>한 상태로 </a:t>
            </a:r>
            <a:r>
              <a:rPr lang="ko-KR" altLang="en-US" dirty="0" err="1"/>
              <a:t>텐서</a:t>
            </a:r>
            <a:r>
              <a:rPr lang="ko-KR" altLang="en-US" dirty="0"/>
              <a:t> 곱과 메시지 </a:t>
            </a:r>
            <a:r>
              <a:rPr lang="ko-KR" altLang="en-US" dirty="0" err="1"/>
              <a:t>패싱을</a:t>
            </a:r>
            <a:r>
              <a:rPr lang="ko-KR" altLang="en-US" dirty="0"/>
              <a:t> 각각 수행합니다</a:t>
            </a:r>
            <a:r>
              <a:rPr lang="en-US" altLang="ko-KR" dirty="0"/>
              <a:t>. </a:t>
            </a:r>
            <a:r>
              <a:rPr lang="ko-KR" altLang="en-US" dirty="0"/>
              <a:t>제 목표는 원본 </a:t>
            </a:r>
            <a:r>
              <a:rPr lang="en-US" altLang="ko-KR" dirty="0"/>
              <a:t>GNN-IP</a:t>
            </a:r>
            <a:r>
              <a:rPr lang="ko-KR" altLang="en-US" dirty="0"/>
              <a:t>의 수식과 학습된 파라미터를 그대로 보존하면서</a:t>
            </a:r>
            <a:r>
              <a:rPr lang="en-US" altLang="ko-KR" dirty="0"/>
              <a:t>, </a:t>
            </a:r>
            <a:r>
              <a:rPr lang="ko-KR" altLang="en-US" dirty="0"/>
              <a:t>이 데이터와 연산 흐름만을 효율적으로 재구성하는 것입니다</a:t>
            </a:r>
            <a:r>
              <a:rPr lang="en-US" altLang="ko-KR" dirty="0"/>
              <a:t>.“</a:t>
            </a:r>
          </a:p>
          <a:p>
            <a:endParaRPr lang="en-US" altLang="ko-KR" dirty="0"/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 본격적인 문제 정의입니다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equivariant GNN-IP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구현은 대부분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directed edge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기준으로 계산합니다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그러면 원자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있을 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`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가는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edge`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`j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가는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edge`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내부적으로 별도의 두 샘플처럼 취급됩니다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방식은 구현이 단순하고 기존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 passing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프레임워크와도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잘 맞지만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물리적으로 보면 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edge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같은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pair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나온 정보입니다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예를 들어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distance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두 방향에서 완전히 같습니다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radial basis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cutoff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 같습니다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spherical harmonics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완전히 같은 값은 아니지만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역방향으로 갔을 때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degree 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따른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parity sign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복원 가능합니다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다시 말해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새로 계산하지 않아도 되는 값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이미 존재합니다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반면 모든 것이 재사용 가능한 것은 아닙니다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message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 node feature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사용하므로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j`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`j to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서로 다릅니다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aggregation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destination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다르기 때문에 단순 공유가 안 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제가 지난주 계획서에서 가장 먼저 잡았던 일이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재사용 가능한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연산값의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분류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였습니다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이것이 먼저 정리되어야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formulation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깨지 않고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 reuse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가능한 경계가 보이기 때문입니다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6E87F-228F-44B2-B4EE-9BD47B249A9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85122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이 문제를 해결하기 위해서는 두 가지 큰 챌린지를 극복해야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첫째는 구조적 비효율성입니다</a:t>
            </a:r>
            <a:r>
              <a:rPr lang="en-US" altLang="ko-KR" dirty="0"/>
              <a:t>. </a:t>
            </a:r>
            <a:r>
              <a:rPr lang="ko-KR" altLang="en-US" dirty="0"/>
              <a:t>기존 </a:t>
            </a:r>
            <a:r>
              <a:rPr lang="en-US" altLang="ko-KR" dirty="0" err="1"/>
              <a:t>NequIP</a:t>
            </a:r>
            <a:r>
              <a:rPr lang="ko-KR" altLang="en-US" dirty="0"/>
              <a:t>은 </a:t>
            </a:r>
            <a:r>
              <a:rPr lang="en-US" altLang="ko-KR" dirty="0"/>
              <a:t>$</a:t>
            </a:r>
            <a:r>
              <a:rPr lang="en-US" altLang="ko-KR" dirty="0" err="1"/>
              <a:t>i</a:t>
            </a:r>
            <a:r>
              <a:rPr lang="en-US" altLang="ko-KR" dirty="0"/>
              <a:t>$</a:t>
            </a:r>
            <a:r>
              <a:rPr lang="ko-KR" altLang="en-US" dirty="0"/>
              <a:t>에서 </a:t>
            </a:r>
            <a:r>
              <a:rPr lang="en-US" altLang="ko-KR" dirty="0"/>
              <a:t>$j$, </a:t>
            </a:r>
            <a:r>
              <a:rPr lang="ko-KR" altLang="en-US" dirty="0"/>
              <a:t>그리고 </a:t>
            </a:r>
            <a:r>
              <a:rPr lang="en-US" altLang="ko-KR" dirty="0"/>
              <a:t>$j$</a:t>
            </a:r>
            <a:r>
              <a:rPr lang="ko-KR" altLang="en-US" dirty="0"/>
              <a:t>에서 </a:t>
            </a:r>
            <a:r>
              <a:rPr lang="en-US" altLang="ko-KR" dirty="0"/>
              <a:t>$</a:t>
            </a:r>
            <a:r>
              <a:rPr lang="en-US" altLang="ko-KR" dirty="0" err="1"/>
              <a:t>i</a:t>
            </a:r>
            <a:r>
              <a:rPr lang="en-US" altLang="ko-KR" dirty="0"/>
              <a:t>$</a:t>
            </a:r>
            <a:r>
              <a:rPr lang="ko-KR" altLang="en-US" dirty="0"/>
              <a:t>로 가는 양방향 </a:t>
            </a:r>
            <a:r>
              <a:rPr lang="ko-KR" altLang="en-US" dirty="0" err="1"/>
              <a:t>에지를</a:t>
            </a:r>
            <a:r>
              <a:rPr lang="ko-KR" altLang="en-US" dirty="0"/>
              <a:t> 철저히 독립적으로 처리하여 거리 연산 등이 중복 수행됩니다</a:t>
            </a:r>
            <a:r>
              <a:rPr lang="en-US" altLang="ko-KR" dirty="0"/>
              <a:t>. </a:t>
            </a:r>
            <a:r>
              <a:rPr lang="ko-KR" altLang="en-US" dirty="0"/>
              <a:t>이를 </a:t>
            </a:r>
            <a:r>
              <a:rPr lang="en-US" altLang="ko-KR" dirty="0"/>
              <a:t>'1</a:t>
            </a:r>
            <a:r>
              <a:rPr lang="ko-KR" altLang="en-US" dirty="0"/>
              <a:t>회 계산 후 부호 반전을 통한 재사용</a:t>
            </a:r>
            <a:r>
              <a:rPr lang="en-US" altLang="ko-KR" dirty="0"/>
              <a:t>'</a:t>
            </a:r>
            <a:r>
              <a:rPr lang="ko-KR" altLang="en-US" dirty="0"/>
              <a:t>이 가능하도록 페어 단위</a:t>
            </a:r>
            <a:r>
              <a:rPr lang="en-US" altLang="ko-KR" dirty="0"/>
              <a:t>(Pair-wise) </a:t>
            </a:r>
            <a:r>
              <a:rPr lang="ko-KR" altLang="en-US" dirty="0"/>
              <a:t>입력 구조로 개편해야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challenge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structural inefficiency,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구조적 비효율입니다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겉으로 보면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directed edge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개를 계산하는 것이 별문제 없어 보일 수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pair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관점에서 보면 같은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geometric information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두 번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encoding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하고 있는 셈입니다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특히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neighbor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수가 많고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클수록 이 중복은 절대량으로 커집니다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그렇다고 단순히 한쪽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edge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없애면 되는 문제는 아닙니다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모델의 원래 의미를 유지해야 하기 때문입니다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예를 들어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reverse edge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 flip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복원할 수 있지만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message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 node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달라지므로 없앨 수 없습니다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따라서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줄일 수 있는 것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남겨야 하는 것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정확히 구분해야 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구분이 어긋나면 모델의 수학적 의미가 깨집니다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challenge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단순한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deduplication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아니라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`exactness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유지하는 형태로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computation graph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재구성하는 것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6E87F-228F-44B2-B4EE-9BD47B249A9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78425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B7482-4848-111F-1006-2D45D76DD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EC812D-D3A9-68A0-8AB4-2807F6A781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6B1EE0-A4C7-729D-35CA-4FE4EAD972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두 번째 챌린지는 </a:t>
            </a:r>
            <a:r>
              <a:rPr lang="en-US" altLang="ko-KR" dirty="0" err="1"/>
              <a:t>FlashTP</a:t>
            </a:r>
            <a:r>
              <a:rPr lang="en-US" altLang="ko-KR" dirty="0"/>
              <a:t> </a:t>
            </a:r>
            <a:r>
              <a:rPr lang="ko-KR" altLang="en-US" dirty="0"/>
              <a:t>로직과의 통합 및 </a:t>
            </a:r>
            <a:r>
              <a:rPr lang="en-US" altLang="ko-KR" dirty="0"/>
              <a:t>JIT </a:t>
            </a:r>
            <a:r>
              <a:rPr lang="ko-KR" altLang="en-US" dirty="0"/>
              <a:t>컴파일링입니다</a:t>
            </a:r>
            <a:r>
              <a:rPr lang="en-US" altLang="ko-KR" dirty="0"/>
              <a:t>. </a:t>
            </a:r>
            <a:r>
              <a:rPr lang="ko-KR" altLang="en-US" dirty="0"/>
              <a:t>저희의 페어 기반 재사용 로직을 </a:t>
            </a:r>
            <a:r>
              <a:rPr lang="ko-KR" altLang="en-US" dirty="0" err="1"/>
              <a:t>텐서</a:t>
            </a:r>
            <a:r>
              <a:rPr lang="ko-KR" altLang="en-US" dirty="0"/>
              <a:t> 곱</a:t>
            </a:r>
            <a:r>
              <a:rPr lang="en-US" altLang="ko-KR" dirty="0"/>
              <a:t>(TP)</a:t>
            </a:r>
            <a:r>
              <a:rPr lang="ko-KR" altLang="en-US" dirty="0"/>
              <a:t>과 하나의 커널로 융합</a:t>
            </a:r>
            <a:r>
              <a:rPr lang="en-US" altLang="ko-KR" dirty="0"/>
              <a:t>(Fusion)</a:t>
            </a:r>
            <a:r>
              <a:rPr lang="ko-KR" altLang="en-US" dirty="0"/>
              <a:t>해야 진정한 가속이 일어납니다</a:t>
            </a:r>
            <a:r>
              <a:rPr lang="en-US" altLang="ko-KR" dirty="0"/>
              <a:t>. </a:t>
            </a:r>
            <a:r>
              <a:rPr lang="ko-KR" altLang="en-US" dirty="0"/>
              <a:t>하지만 분자 동역학 시뮬레이션 중에는 원자들이 계속 움직이면서 그래프의 연결 위상</a:t>
            </a:r>
            <a:r>
              <a:rPr lang="en-US" altLang="ko-KR" dirty="0"/>
              <a:t>(Topology)</a:t>
            </a:r>
            <a:r>
              <a:rPr lang="ko-KR" altLang="en-US" dirty="0"/>
              <a:t>과 이웃 리스트</a:t>
            </a:r>
            <a:r>
              <a:rPr lang="en-US" altLang="ko-KR" dirty="0"/>
              <a:t>(Neighbor list)</a:t>
            </a:r>
            <a:r>
              <a:rPr lang="ko-KR" altLang="en-US" dirty="0"/>
              <a:t>가 매 스텝 동적으로 변합니다</a:t>
            </a:r>
            <a:r>
              <a:rPr lang="en-US" altLang="ko-KR" dirty="0"/>
              <a:t>. </a:t>
            </a:r>
            <a:r>
              <a:rPr lang="ko-KR" altLang="en-US" dirty="0"/>
              <a:t>따라서 미리 고정된 코드를 쓸 수 없고</a:t>
            </a:r>
            <a:r>
              <a:rPr lang="en-US" altLang="ko-KR" dirty="0"/>
              <a:t>, </a:t>
            </a:r>
            <a:r>
              <a:rPr lang="ko-KR" altLang="en-US" dirty="0"/>
              <a:t>런타임에 그래프 구조에 맞춰 최적의 커널을 즉석에서 생성하는 </a:t>
            </a:r>
            <a:r>
              <a:rPr lang="en-US" altLang="ko-KR" dirty="0"/>
              <a:t>JIT(Just-In-Time) </a:t>
            </a:r>
            <a:r>
              <a:rPr lang="ko-KR" altLang="en-US" dirty="0"/>
              <a:t>컴파일러 구현이 반드시 필요합니다</a:t>
            </a:r>
            <a:r>
              <a:rPr lang="en-US" altLang="ko-KR" dirty="0"/>
              <a:t>. </a:t>
            </a:r>
            <a:r>
              <a:rPr lang="ko-KR" altLang="en-US" dirty="0"/>
              <a:t>이 높은 시스템 구현 난이도를 극복하는 것이 본 연구의 핵심 과제입니다</a:t>
            </a:r>
            <a:r>
              <a:rPr lang="en-US" altLang="ko-KR" dirty="0"/>
              <a:t>.“</a:t>
            </a:r>
          </a:p>
          <a:p>
            <a:endParaRPr lang="en-US" altLang="ko-KR" dirty="0"/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challenge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backend integration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예를 들어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FlashTP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tensor product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fused kernel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아주 잘 가속합니다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그 인터페이스를 보면 여전히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directed edge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배열을 입력으로 받습니다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pair-based representation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만들더라도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마지막에 다시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directed edge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풀어버리면 기대했던 이득이 줄어듭니다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실제로 제가 구현하면서 확인한 것도 바로 이 부분입니다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Python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레벨에서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pair metadata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만들고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weight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재사용하는 것 자체는 가능합니다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backend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pair-major execution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이해하지 못하면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중간에 다시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edge layout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펼쳐야 하고 그 과정에서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indexing overhead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생깁니다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pair reconstruction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난점은 알고리즘 아이디어보다도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어디까지를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pair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기준으로 유지할 수 있는가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`backend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어떤 계약을 새로 만들어야 하는가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여기서부터는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단순 코드 수정이 아니라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runtime co-design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문제가 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2A48D1-CB1E-6EEB-4703-44C44954F4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6E87F-228F-44B2-B4EE-9BD47B249A9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65422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관련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연구들과의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비교를 통해 저희 제안 기법의 독창성을 정리해 보겠습니다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크게 두 가지 방향의 기존 연구들이 있었습니다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번째는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NEMP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같이 알고리즘 자체를 변형하는 연구들입니다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이들은 노드 공간에서 피처를 합쳐서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연산량을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줄이긴 하지만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모델의 원본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$E(3)$ </a:t>
            </a:r>
            <a:r>
              <a:rPr lang="ko-KR" alt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공변성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(Equivariance)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수식과 표현력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(Expressivity)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자체를 훼손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한다는 치명적인 한계가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번째는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FlashTP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SevenNet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 같은 시스템 레벨의 가속 연구들입니다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이들은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텐서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곱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(TP)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커널을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퓨전하거나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멀티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확장에만 집중하고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앞단에서 발생하는 양방향 에지의 기하학적 중복 연산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예를 들면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$j$, $j$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향하는 중복된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Spherical Harmonics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계산 문제는 전혀 해결하지 못한 채 방치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하고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번째는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FlashTP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cuEquivariance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`tensor product acceleration`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계열입니다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이들은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scatter-gather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매우 효율적으로 처리하고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시스템 수준에서 큰 개선을 가져옵니다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upstream geometry redundancy,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j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 to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중복되는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radial computation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거의 다루지 않습니다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번째는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SevenNet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`system-level MLIP acceleration`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multi-GPU, domain decomposition,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MD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가까운 실행 인프라가 중요합니다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그런데 이 역시 계산 단위 자체는 대체로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directed edge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전제하고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번째는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NEMP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처럼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`algorithm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자체를 바꾸는 방식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NEMP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 space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 passing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다시 구성해 효율을 얻습니다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다만 이 방식은 원래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edge-based equivariant formulation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그대로 유지하는 접근은 아닙니다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제가 잡은 위치는 이 셋의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중간쯤입니다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formulation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유지하되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geometry redundancy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줄이는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 reuse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노리는 방향입니다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제가 찾은 범위에서는 이 지점을 정면으로 다루는 선행연구가 상대적으로 적었습니다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6E87F-228F-44B2-B4EE-9BD47B249A9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69764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4638A-912B-1088-5ED1-DB1310B88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2E04EE-B64A-CE61-5AB1-E80CDFC45A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2F60C1-9ADB-0629-0E8D-251DFC5527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제가 제안할 기법의 수학적 근거를 잠시 보겠습니다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E(3)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모델은 회전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(Rotation),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병진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(Translation),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(Reflection)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대한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공변성을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가집니다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상대 좌표를 써서 병진 불변성을 얻고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Spherical Harmonics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통해 회전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공변성을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얻습니다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 가장 중요한 것은 **반사 대칭성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(Reflection symmetry)**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이는 차수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$l$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따른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홀짝성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패리티 변환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(Parity transformation)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통해 완벽하게 제어될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.“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장은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proposed method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수학적 동기를 설명하는 슬라이드입니다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E3-equivariant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rotation, translation, reflection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대해 정해진 방식으로 반응해야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translation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relative coordinate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쓰는 순간 자연스럽게 처리됩니다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rotation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spherical harmonics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irreps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표현을 통해 다뤄집니다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reflection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degree 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따른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parity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다뤄집니다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점이 중요한 이유는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reverse edge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새 정보를 주는 것이 아니라는 데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pair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대해 방향만 반대로 뒤집으면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geometry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essentially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동일하고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parity sign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연결됩니다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한쪽 방향의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계산해두면 반대 방향은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expensive evaluation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없이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처리로 복원할 수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제가 제안하는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sign-flip reuse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경험적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heuristic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아니라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equivariant formulation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안에서 이미 허용된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symmetry property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execution level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이용하자는 것입니다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E1A6D5-05B2-487B-966C-66ACFEA71C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6E87F-228F-44B2-B4EE-9BD47B249A9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31495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왜 이 기법을 제안하게 되었는지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배경과 수학적 근거를 말씀드리겠습니다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Spherical Harmonics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연산이 가장 큰 병목이기 때문입니다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아무리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카르테시안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다항식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(Cartesian coordinates)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사용하는 현대적 구현체라 하더라도 여전히 전체 커널 시간에서 막대한 비중을 차지합니다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방금 말씀드린 **패리티 속성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(Parity Property)**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보면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양방향 에지는 방향만 반대일 뿐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Y^l_m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(-\hat{r}{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ij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 = (-1)^l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Y^l_m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(\hat{r}{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ij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})$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아주 간단한 수학적 관계를 가집니다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따라서 한쪽 방향만 계산하고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(Compute Once),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반대 방향은 무거운 연산을 우회하여 비용이 전혀 없는 부호 반전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(Sign flip)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만으로 즉시 재사용하자는 것이 핵심 제안입니다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.“</a:t>
            </a:r>
          </a:p>
          <a:p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페이지를 따로 넣은 이유는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왜 여러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reusable candidate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특히 강조하는지 분명히 말하기 위해서입니다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 이유는 수학적으로 가장 깔끔하기 때문입니다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distance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radial basis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아예 동일하고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SH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reverse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방향에서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parity sign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정확히 복원됩니다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approximate reuse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아니라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 reuse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가능합니다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 이유는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profiling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 과장하지 않는 것이 중요합니다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데이터셋에서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지배적인 병목은 아닙니다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baseline intrusive profiling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해보면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small sparse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계열에서는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비중이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퍼센트도 안 되는 경우가 많습니다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반대로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large dense case,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예를 들어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MPtrj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MD22 nanotube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경우에는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 total time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약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퍼센트에서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퍼센트를 차지했습니다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평균만 내면 낮아 보일 수 있지만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우리가 실제로 최적화 타깃으로 삼는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large edge-load regime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에서는 분명히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substantial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부분입니다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번째 이유는 해석이 명확하다는 점입니다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TP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건드리면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backend, kernel,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autograd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문제가 한꺼번에 커집니다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 reuse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`compute once, reverse by sign`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이라는 설명이 분명하고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실험 결과도 그 방향으로 잘 해석됩니다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이 페이지의 메시지는 단순합니다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`SH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언제나 제일 느리다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아니라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`SH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 reuse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가능하고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큰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dense graph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에서는 실제로 무시할 수 없는 비용이기 때문에 첫 번째 공략 대상으로 적합하다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6E87F-228F-44B2-B4EE-9BD47B249A9D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0955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제안하는 파이프라인의 전체 구조도입니다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다이어그램 중앙을 보시면</a:t>
            </a:r>
            <a:r>
              <a:rPr lang="en-US" altLang="ko-KR" dirty="0"/>
              <a:t>, </a:t>
            </a:r>
            <a:r>
              <a:rPr lang="ko-KR" altLang="en-US" dirty="0"/>
              <a:t>기존에는 </a:t>
            </a:r>
            <a:r>
              <a:rPr lang="ko-KR" altLang="en-US" dirty="0" err="1"/>
              <a:t>양갈래로</a:t>
            </a:r>
            <a:r>
              <a:rPr lang="ko-KR" altLang="en-US" dirty="0"/>
              <a:t> 나뉘어 두 번 계산되던 흐름을 하나로 합쳐 **</a:t>
            </a:r>
            <a:r>
              <a:rPr lang="en-US" altLang="ko-KR" dirty="0"/>
              <a:t>'Pair-Level Edge Filter'**</a:t>
            </a:r>
            <a:r>
              <a:rPr lang="ko-KR" altLang="en-US" dirty="0"/>
              <a:t>를 단 한 번만 생성합니다</a:t>
            </a:r>
            <a:r>
              <a:rPr lang="en-US" altLang="ko-KR" dirty="0"/>
              <a:t>.</a:t>
            </a:r>
            <a:r>
              <a:rPr lang="ko-KR" altLang="en-US" dirty="0"/>
              <a:t>그리고 밑으로 내려와서 메시지를 생성할 때 비로소 흐름이 두 개로 갈라집니다</a:t>
            </a:r>
            <a:r>
              <a:rPr lang="en-US" altLang="ko-KR" dirty="0"/>
              <a:t>. $</a:t>
            </a:r>
            <a:r>
              <a:rPr lang="en-US" altLang="ko-KR" dirty="0" err="1"/>
              <a:t>i</a:t>
            </a:r>
            <a:r>
              <a:rPr lang="en-US" altLang="ko-KR" dirty="0"/>
              <a:t>$</a:t>
            </a:r>
            <a:r>
              <a:rPr lang="ko-KR" altLang="en-US" dirty="0"/>
              <a:t>에서 </a:t>
            </a:r>
            <a:r>
              <a:rPr lang="en-US" altLang="ko-KR" dirty="0"/>
              <a:t>$j$</a:t>
            </a:r>
            <a:r>
              <a:rPr lang="ko-KR" altLang="en-US" dirty="0"/>
              <a:t>로 가는 방향은 그대로 </a:t>
            </a:r>
            <a:r>
              <a:rPr lang="ko-KR" altLang="en-US" dirty="0" err="1"/>
              <a:t>텐서</a:t>
            </a:r>
            <a:r>
              <a:rPr lang="ko-KR" altLang="en-US" dirty="0"/>
              <a:t> 곱</a:t>
            </a:r>
            <a:r>
              <a:rPr lang="en-US" altLang="ko-KR" dirty="0"/>
              <a:t>(TP)</a:t>
            </a:r>
            <a:r>
              <a:rPr lang="ko-KR" altLang="en-US" dirty="0"/>
              <a:t>으로 들어가고</a:t>
            </a:r>
            <a:r>
              <a:rPr lang="en-US" altLang="ko-KR" dirty="0"/>
              <a:t>, $j$</a:t>
            </a:r>
            <a:r>
              <a:rPr lang="ko-KR" altLang="en-US" dirty="0"/>
              <a:t>에서 </a:t>
            </a:r>
            <a:r>
              <a:rPr lang="en-US" altLang="ko-KR" dirty="0"/>
              <a:t>$</a:t>
            </a:r>
            <a:r>
              <a:rPr lang="en-US" altLang="ko-KR" dirty="0" err="1"/>
              <a:t>i</a:t>
            </a:r>
            <a:r>
              <a:rPr lang="en-US" altLang="ko-KR" dirty="0"/>
              <a:t>$</a:t>
            </a:r>
            <a:r>
              <a:rPr lang="ko-KR" altLang="en-US" dirty="0"/>
              <a:t>로 가는 반대 방향은 앞서 구한 필터에 </a:t>
            </a:r>
            <a:r>
              <a:rPr lang="en-US" altLang="ko-KR" dirty="0"/>
              <a:t>$(-1)^l$</a:t>
            </a:r>
            <a:r>
              <a:rPr lang="ko-KR" altLang="en-US" dirty="0"/>
              <a:t>이라는 아주 단순한 **부호 반전</a:t>
            </a:r>
            <a:r>
              <a:rPr lang="en-US" altLang="ko-KR" dirty="0"/>
              <a:t>(Sign Flip)**</a:t>
            </a:r>
            <a:r>
              <a:rPr lang="ko-KR" altLang="en-US" dirty="0"/>
              <a:t>만 곱해서 즉시 메시지 생성에 사용합니다</a:t>
            </a:r>
            <a:r>
              <a:rPr lang="en-US" altLang="ko-KR" dirty="0"/>
              <a:t>. </a:t>
            </a:r>
            <a:r>
              <a:rPr lang="ko-KR" altLang="en-US" dirty="0"/>
              <a:t>무거운 기하학적 연산은 공유하고</a:t>
            </a:r>
            <a:r>
              <a:rPr lang="en-US" altLang="ko-KR" dirty="0"/>
              <a:t>, </a:t>
            </a:r>
            <a:r>
              <a:rPr lang="ko-KR" altLang="en-US" dirty="0" err="1"/>
              <a:t>텐서</a:t>
            </a:r>
            <a:r>
              <a:rPr lang="ko-KR" altLang="en-US" dirty="0"/>
              <a:t> 곱 직전에 부호만 바꿔 오버헤드를 제로</a:t>
            </a:r>
            <a:r>
              <a:rPr lang="en-US" altLang="ko-KR" dirty="0"/>
              <a:t>(Zero)</a:t>
            </a:r>
            <a:r>
              <a:rPr lang="ko-KR" altLang="en-US" dirty="0"/>
              <a:t>로 만든 이 구조가 본 연구의 최종 솔루션입니다</a:t>
            </a:r>
            <a:r>
              <a:rPr lang="en-US" altLang="ko-KR" dirty="0"/>
              <a:t>.“</a:t>
            </a:r>
          </a:p>
          <a:p>
            <a:endParaRPr lang="en-US" altLang="ko-KR" dirty="0"/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 실제 구현 내용을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설명드리겠습니다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제가 구현한 방식은 먼저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reverse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관계에 있는 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directed edge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하나의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undirected pair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묶는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metadata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만드는 것입니다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여기에는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pair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canonical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reverse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directed edge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어느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pair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속하는지 같은 정보가 들어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다음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geometry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단계에서는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pair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기준으로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distance, radial basis, cutoff, spherical harmonics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한 번만 계산합니다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reverse edge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새로 평가하지 않고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parity sign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복원합니다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weight neural network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pair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기준으로 한 번 계산해서 양방향에서 공유합니다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여기까지는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pair-aware reuse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실제로 들어간 부분입니다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중요한 제한이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최종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tensor product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aggregation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아직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directed edge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기준으로 남아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이유는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 node feature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의존하기 때문입니다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`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j`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`j to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geometry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공유해도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다르므로 최종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하나로 합칠 수 없습니다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현재 구현은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`pair-major full execution`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아니라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`geometry, SH, pair-weight reuse`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가까운 구조입니다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차이를 정확히 말하는 것이 중요합니다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지금 단계에서 얻는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speedup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reusable part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오고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TP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자체를 줄여서 얻는 것은 아닙니다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한계가 뒤의 실험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결과와도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정확히 연결됩니다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6E87F-228F-44B2-B4EE-9BD47B249A9D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85691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향후 실험 계획과 이렇게 세팅한 논리적 배경을 말씀드리겠습니다</a:t>
            </a:r>
            <a:r>
              <a:rPr lang="en-US" altLang="ko-KR" dirty="0"/>
              <a:t>.</a:t>
            </a:r>
            <a:r>
              <a:rPr lang="ko-KR" altLang="en-US" dirty="0"/>
              <a:t>첫째</a:t>
            </a:r>
            <a:r>
              <a:rPr lang="en-US" altLang="ko-KR" dirty="0"/>
              <a:t>, </a:t>
            </a:r>
            <a:r>
              <a:rPr lang="ko-KR" altLang="en-US" dirty="0"/>
              <a:t>베이스라인으로 </a:t>
            </a:r>
            <a:r>
              <a:rPr lang="en-US" altLang="ko-KR" dirty="0" err="1"/>
              <a:t>SevenNet</a:t>
            </a:r>
            <a:r>
              <a:rPr lang="ko-KR" altLang="en-US" dirty="0"/>
              <a:t>을 메인으로 삼은 이유입니다</a:t>
            </a:r>
            <a:r>
              <a:rPr lang="en-US" altLang="ko-KR" dirty="0"/>
              <a:t>. </a:t>
            </a:r>
            <a:r>
              <a:rPr lang="en-US" altLang="ko-KR" dirty="0" err="1"/>
              <a:t>SevenNet</a:t>
            </a:r>
            <a:r>
              <a:rPr lang="ko-KR" altLang="en-US" dirty="0"/>
              <a:t>은 현재 </a:t>
            </a:r>
            <a:r>
              <a:rPr lang="en-US" altLang="ko-KR" dirty="0"/>
              <a:t>GNN-IP </a:t>
            </a:r>
            <a:r>
              <a:rPr lang="ko-KR" altLang="en-US" dirty="0"/>
              <a:t>중에서도 멀티 </a:t>
            </a:r>
            <a:r>
              <a:rPr lang="en-US" altLang="ko-KR" dirty="0"/>
              <a:t>GPU </a:t>
            </a:r>
            <a:r>
              <a:rPr lang="ko-KR" altLang="en-US" dirty="0"/>
              <a:t>확장이 가장 잘 되어 있는 최신 </a:t>
            </a:r>
            <a:r>
              <a:rPr lang="en-US" altLang="ko-KR" dirty="0"/>
              <a:t>SOTA </a:t>
            </a:r>
            <a:r>
              <a:rPr lang="ko-KR" altLang="en-US" dirty="0"/>
              <a:t>패키지입니다</a:t>
            </a:r>
            <a:r>
              <a:rPr lang="en-US" altLang="ko-KR" dirty="0"/>
              <a:t>. </a:t>
            </a:r>
            <a:r>
              <a:rPr lang="ko-KR" altLang="en-US" dirty="0"/>
              <a:t>시스템 레벨 최적화가 극에 달한 이 모델 위에서도 저희의 기하학적 중복 제거 기법이 유의미한 가속을 이끌어낼 수 있다면</a:t>
            </a:r>
            <a:r>
              <a:rPr lang="en-US" altLang="ko-KR" dirty="0"/>
              <a:t>, </a:t>
            </a:r>
            <a:r>
              <a:rPr lang="ko-KR" altLang="en-US" dirty="0"/>
              <a:t>본 연구의 실효성을 가장 완벽하게 증명하는 셈이 됩니다</a:t>
            </a:r>
            <a:r>
              <a:rPr lang="en-US" altLang="ko-KR" dirty="0"/>
              <a:t>.</a:t>
            </a:r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ko-KR" altLang="en-US" dirty="0"/>
              <a:t>워크로드를 </a:t>
            </a:r>
            <a:r>
              <a:rPr lang="en-US" altLang="ko-KR" dirty="0"/>
              <a:t>MD17 </a:t>
            </a:r>
            <a:r>
              <a:rPr lang="ko-KR" altLang="en-US" dirty="0"/>
              <a:t>같은 소형 분자부터 물</a:t>
            </a:r>
            <a:r>
              <a:rPr lang="en-US" altLang="ko-KR" dirty="0"/>
              <a:t>, </a:t>
            </a:r>
            <a:r>
              <a:rPr lang="ko-KR" altLang="en-US" dirty="0"/>
              <a:t>그리고 </a:t>
            </a:r>
            <a:r>
              <a:rPr lang="en-US" altLang="ko-KR" dirty="0"/>
              <a:t>Si3N4 </a:t>
            </a:r>
            <a:r>
              <a:rPr lang="ko-KR" altLang="en-US" dirty="0"/>
              <a:t>같은 고밀도</a:t>
            </a:r>
            <a:r>
              <a:rPr lang="en-US" altLang="ko-KR" dirty="0"/>
              <a:t>(High-density) </a:t>
            </a:r>
            <a:r>
              <a:rPr lang="ko-KR" altLang="en-US" dirty="0"/>
              <a:t>시스템까지 계층적으로 구성했습니다</a:t>
            </a:r>
            <a:r>
              <a:rPr lang="en-US" altLang="ko-KR" dirty="0"/>
              <a:t>. </a:t>
            </a:r>
            <a:r>
              <a:rPr lang="ko-KR" altLang="en-US" dirty="0"/>
              <a:t>그 이유는 그래프의 밀도</a:t>
            </a:r>
            <a:r>
              <a:rPr lang="en-US" altLang="ko-KR" dirty="0"/>
              <a:t>(Sparse vs. Dense)</a:t>
            </a:r>
            <a:r>
              <a:rPr lang="ko-KR" altLang="en-US" dirty="0"/>
              <a:t>에 따라 에지</a:t>
            </a:r>
            <a:r>
              <a:rPr lang="en-US" altLang="ko-KR" dirty="0"/>
              <a:t>(Edge)</a:t>
            </a:r>
            <a:r>
              <a:rPr lang="ko-KR" altLang="en-US" dirty="0"/>
              <a:t>의 개수가 기하급수적으로 달라지기 때문입니다</a:t>
            </a:r>
            <a:r>
              <a:rPr lang="en-US" altLang="ko-KR" dirty="0"/>
              <a:t>. </a:t>
            </a:r>
            <a:r>
              <a:rPr lang="ko-KR" altLang="en-US" dirty="0"/>
              <a:t>밀도가 높을수록 저희가 타깃으로 하는 양방향 에지 중복 연산의 병목이 심해지므로</a:t>
            </a:r>
            <a:r>
              <a:rPr lang="en-US" altLang="ko-KR" dirty="0"/>
              <a:t>, </a:t>
            </a:r>
            <a:r>
              <a:rPr lang="ko-KR" altLang="en-US" dirty="0"/>
              <a:t>밀도별로 저희 기법의 효율을 분리해서 평가하는 것이 필수적입니다</a:t>
            </a:r>
            <a:r>
              <a:rPr lang="en-US" altLang="ko-KR" dirty="0"/>
              <a:t>.</a:t>
            </a:r>
            <a:r>
              <a:rPr lang="ko-KR" altLang="en-US" dirty="0"/>
              <a:t>마지막으로 평가지표입니다</a:t>
            </a:r>
            <a:r>
              <a:rPr lang="en-US" altLang="ko-KR" dirty="0"/>
              <a:t>. **</a:t>
            </a:r>
            <a:r>
              <a:rPr lang="ko-KR" altLang="en-US" dirty="0"/>
              <a:t>추론 시간</a:t>
            </a:r>
            <a:r>
              <a:rPr lang="en-US" altLang="ko-KR" dirty="0"/>
              <a:t>(Inference Time)**</a:t>
            </a:r>
            <a:r>
              <a:rPr lang="ko-KR" altLang="en-US" dirty="0"/>
              <a:t>과 **스케일링</a:t>
            </a:r>
            <a:r>
              <a:rPr lang="en-US" altLang="ko-KR" dirty="0"/>
              <a:t>(Scaling)**</a:t>
            </a:r>
            <a:r>
              <a:rPr lang="ko-KR" altLang="en-US" dirty="0"/>
              <a:t>을 통해 속도 향상을 증명하는 것은 물론이고</a:t>
            </a:r>
            <a:r>
              <a:rPr lang="en-US" altLang="ko-KR" dirty="0"/>
              <a:t>, </a:t>
            </a:r>
            <a:r>
              <a:rPr lang="ko-KR" altLang="en-US" dirty="0"/>
              <a:t>가장 중요한 것은 정확도</a:t>
            </a:r>
            <a:r>
              <a:rPr lang="en-US" altLang="ko-KR" dirty="0"/>
              <a:t>(Accuracy) </a:t>
            </a:r>
            <a:r>
              <a:rPr lang="ko-KR" altLang="en-US" dirty="0"/>
              <a:t>지표입니다</a:t>
            </a:r>
            <a:r>
              <a:rPr lang="en-US" altLang="ko-KR" dirty="0"/>
              <a:t>. </a:t>
            </a:r>
            <a:r>
              <a:rPr lang="ko-KR" altLang="en-US" dirty="0"/>
              <a:t>기존의 알고리즘 경량화 논문들과 달리</a:t>
            </a:r>
            <a:r>
              <a:rPr lang="en-US" altLang="ko-KR" dirty="0"/>
              <a:t>, </a:t>
            </a:r>
            <a:r>
              <a:rPr lang="ko-KR" altLang="en-US" dirty="0"/>
              <a:t>제안하는 </a:t>
            </a:r>
            <a:r>
              <a:rPr lang="en-US" altLang="ko-KR" dirty="0"/>
              <a:t>'Sign-Flip' </a:t>
            </a:r>
            <a:r>
              <a:rPr lang="ko-KR" altLang="en-US" dirty="0"/>
              <a:t>기법은 수학적 수식을 </a:t>
            </a:r>
            <a:r>
              <a:rPr lang="en-US" altLang="ko-KR" dirty="0"/>
              <a:t>100% </a:t>
            </a:r>
            <a:r>
              <a:rPr lang="ko-KR" altLang="en-US" dirty="0"/>
              <a:t>보존하므로 정확도 하락이 단 </a:t>
            </a:r>
            <a:r>
              <a:rPr lang="en-US" altLang="ko-KR" dirty="0"/>
              <a:t>'0'</a:t>
            </a:r>
            <a:r>
              <a:rPr lang="ko-KR" altLang="en-US" dirty="0"/>
              <a:t>도 발생하지 않음을 이 지표를 통해 명확히 보여줄 것입니다</a:t>
            </a:r>
            <a:r>
              <a:rPr lang="en-US" altLang="ko-KR" dirty="0"/>
              <a:t>.“</a:t>
            </a:r>
          </a:p>
          <a:p>
            <a:endParaRPr lang="en-US" altLang="ko-KR" dirty="0"/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슬라이드는 제목은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experiment plan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이지만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실제로는 계획과 현재 진행 결과를 같이 설명하는 장입니다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원래 계획은 세 가지였습니다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SevenNet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e3nn baseline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SevenNet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plus pair execution full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직접 비교해서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FlashTP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없다고 가정했을 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pair reuse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만으로 어떤 이득이 있는지 보자는 것이었습니다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둘째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FlashTP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reference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함께 두고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구현이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backend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잘 결합되는지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아니면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geometry reuse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까지만 듣는지를 확인하자는 것이었습니다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셋째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데이터셋을 크기와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density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관점에서 나눠서 언제 효과가 나는지 해석하자는 것이었습니다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workload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 단순히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분자냐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고체냐로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나누지 않고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small sparse, small dense, large sparse, large dense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 구역으로 보았습니다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small sparse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쪽에는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SPICE 2023, ANI-1x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샘플을 넣었고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small dense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에는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phononDB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작은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periodic crystal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넣었습니다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large sparse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OMol25 validation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이나 일부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OC20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계열을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large dense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에는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MPtrj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MD22 nanotube, OMat24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쪽을 대표로 봤습니다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평가 지표도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latency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하나만 본 것이 아니라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energy-force exactness, cold latency, steady latency, stage profiling, GPU utilization, size-density map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함께 봤습니다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이유는 단순히 빨라졌다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느려졌다만으로는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왜 그런지 설명이 안 되기 때문입니다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현재까지 정리된 단일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결과를 요약하면 이렇습니다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e3nn baseline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pair execution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universal win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아닙니다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small sparse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에서는 대체로 손해이고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large dense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에서는 확실한 개선이 나옵니다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대표적으로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MPtrj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큰 샘플에서는 약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 이상 빨라졌고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phononDB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처럼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atom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수는 작지만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degree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높은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small dense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에서도 이득이 보였습니다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SPICE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small sparse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에서는 손해가 났습니다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계획 단계에서 세웠던 가설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크기와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density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같이 봐야 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가설은 현재 단일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결과로 어느 정도 지지되고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다만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multi-GPU scaling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larger public datasets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완전한 확보는 아직 다음 단계입니다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6E87F-228F-44B2-B4EE-9BD47B249A9D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48677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흔히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Spherical Harmonics(SH)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느리다고 하면 삼각함수나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르장드르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다항식의 재귀 호출 때문이라고 생각하기 쉽습니다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SevenNet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이나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e3nn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현대적인 라이브러리들은 이를 이미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$(x, y, z)$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기반의 </a:t>
            </a:r>
            <a:r>
              <a:rPr lang="ko-KR" alt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카르테시안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다항식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(Cartesian Solid Harmonics)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형태로 치환해서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최적화해 두었습니다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다항식의 차수가 곧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Clebsch-Gordan(CG)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결합의 차수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$l$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되는 구조입니다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그런데 왜 여전히 병목일까요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다항식 연산 자체가 아무리 빠르더라도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차수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$l$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커질수록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연산량이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늘어나는데 이를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$j$, $j$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양방향에 대해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계산하는 것은 명백한 메모리 및 연산 낭비이기 때문입니다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게다가 이 중복된 데이터는 이어지는 무거운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CG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텐서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곱 연산의 부하를 가중시킵니다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최근 발표된 </a:t>
            </a:r>
            <a:r>
              <a:rPr lang="en-US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FlashTP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같은 훌륭한 연구가 있지만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이는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뒷단의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텐서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곱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(TP)'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자체를 가속할 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앞단의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중복 계산 문제는 전혀 건드리지 못합니다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discussion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이번 단계에서 가장 중요하게 얻은 결론은 세 가지입니다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pair execution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이야기하려면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reusable value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먼저 정확히 분류해야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이걸 하지 않으면 무엇이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 reuse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무엇이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source-dependent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인지가 섞여서 논의가 흐려집니다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둘째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구현은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pair-major TP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아닙니다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geometry, SH, weight reuse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들어갔지만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aggregation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directed edge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기준으로 남아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small sparse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에서는 이득이 잘 안 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large dense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에서만 확실히 효과가 나타납니다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점을 솔직하게 말해야 결과가 과장되지 않습니다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셋째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 연구 방향은 꽤 분명합니다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pair-major TP kernel, backend co-design, topology cache,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distributed setting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으로의 확장입니다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다시 말해 지금 단계는 끝이 아니라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어디까지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 reuse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가능하고 어디서부터 새 커널이 필요한지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분명히 한 첫 단계라고 볼 수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이상으로 발표를 마치겠습니다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6E87F-228F-44B2-B4EE-9BD47B249A9D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3055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8077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205740" y="165629"/>
            <a:ext cx="11757660" cy="700498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0F0F70"/>
                </a:solidFill>
              </a:defRPr>
            </a:lvl1pPr>
          </a:lstStyle>
          <a:p>
            <a:r>
              <a:rPr lang="en-US" altLang="ko-KR" dirty="0"/>
              <a:t>Title Test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05740" y="927088"/>
            <a:ext cx="11757660" cy="5146052"/>
          </a:xfrm>
        </p:spPr>
        <p:txBody>
          <a:bodyPr/>
          <a:lstStyle>
            <a:lvl1pPr marL="228600" indent="-228600">
              <a:lnSpc>
                <a:spcPct val="140000"/>
              </a:lnSpc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</a:defRPr>
            </a:lvl1pPr>
            <a:lvl2pPr marL="576000" indent="-228600">
              <a:lnSpc>
                <a:spcPct val="140000"/>
              </a:lnSpc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</p:txBody>
      </p:sp>
      <p:sp>
        <p:nvSpPr>
          <p:cNvPr id="7" name="직사각형 6"/>
          <p:cNvSpPr/>
          <p:nvPr userDrawn="1"/>
        </p:nvSpPr>
        <p:spPr>
          <a:xfrm>
            <a:off x="0" y="6457520"/>
            <a:ext cx="12192000" cy="400480"/>
          </a:xfrm>
          <a:prstGeom prst="rect">
            <a:avLst/>
          </a:prstGeom>
          <a:solidFill>
            <a:srgbClr val="0F0F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8253126" y="6557730"/>
            <a:ext cx="3283426" cy="192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250" b="0" i="0" dirty="0">
                <a:solidFill>
                  <a:schemeClr val="bg1"/>
                </a:solidFill>
                <a:latin typeface="+mn-lt"/>
                <a:cs typeface="Lato" panose="020F0502020204030203" pitchFamily="34" charset="0"/>
              </a:rPr>
              <a:t>Distributed and Parallel Computing Lab (WISE)</a:t>
            </a:r>
            <a:endParaRPr lang="ko-KR" altLang="en-US" sz="1250" b="0" i="0" dirty="0">
              <a:solidFill>
                <a:schemeClr val="bg1"/>
              </a:solidFill>
              <a:latin typeface="+mn-lt"/>
              <a:cs typeface="Lato" panose="020F0502020204030203" pitchFamily="34" charset="0"/>
            </a:endParaRPr>
          </a:p>
        </p:txBody>
      </p:sp>
      <p:cxnSp>
        <p:nvCxnSpPr>
          <p:cNvPr id="12" name="Shape 60"/>
          <p:cNvCxnSpPr/>
          <p:nvPr userDrawn="1"/>
        </p:nvCxnSpPr>
        <p:spPr>
          <a:xfrm>
            <a:off x="205740" y="797547"/>
            <a:ext cx="11757660" cy="0"/>
          </a:xfrm>
          <a:prstGeom prst="straightConnector1">
            <a:avLst/>
          </a:prstGeom>
          <a:noFill/>
          <a:ln w="25400" cap="flat" cmpd="sng">
            <a:solidFill>
              <a:srgbClr val="2C2C5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" name="직선 연결선 4"/>
          <p:cNvCxnSpPr/>
          <p:nvPr userDrawn="1"/>
        </p:nvCxnSpPr>
        <p:spPr>
          <a:xfrm>
            <a:off x="11617075" y="6503723"/>
            <a:ext cx="0" cy="29645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슬라이드 번호 개체 틀 3"/>
          <p:cNvSpPr>
            <a:spLocks noGrp="1"/>
          </p:cNvSpPr>
          <p:nvPr>
            <p:ph type="sldNum" sz="quarter" idx="4"/>
          </p:nvPr>
        </p:nvSpPr>
        <p:spPr>
          <a:xfrm>
            <a:off x="11697958" y="6465657"/>
            <a:ext cx="443242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50">
                <a:solidFill>
                  <a:schemeClr val="bg1"/>
                </a:solidFill>
              </a:defRPr>
            </a:lvl1pPr>
          </a:lstStyle>
          <a:p>
            <a:fld id="{765CECA1-5C9B-4693-A1BD-3F65156FCD02}" type="slidenum">
              <a:rPr lang="ko-KR" altLang="en-US" smtClean="0"/>
              <a:pPr/>
              <a:t>‹#›</a:t>
            </a:fld>
            <a:endParaRPr lang="ko-KR" altLang="en-US" sz="1250" dirty="0"/>
          </a:p>
        </p:txBody>
      </p:sp>
    </p:spTree>
    <p:extLst>
      <p:ext uri="{BB962C8B-B14F-4D97-AF65-F5344CB8AC3E}">
        <p14:creationId xmlns:p14="http://schemas.microsoft.com/office/powerpoint/2010/main" val="1410058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5CECA1-5C9B-4693-A1BD-3F65156FC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28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23929" y="1955827"/>
            <a:ext cx="1134414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0F0F70"/>
                </a:solidFill>
                <a:latin typeface="Roboto Black" panose="02000000000000000000" pitchFamily="2" charset="0"/>
              </a:rPr>
              <a:t>GNN-IP</a:t>
            </a:r>
            <a:r>
              <a:rPr lang="ko-KR" altLang="en-US" sz="4400" b="1" dirty="0">
                <a:solidFill>
                  <a:srgbClr val="0F0F70"/>
                </a:solidFill>
                <a:latin typeface="Roboto Black" panose="02000000000000000000" pitchFamily="2" charset="0"/>
              </a:rPr>
              <a:t> </a:t>
            </a:r>
            <a:r>
              <a:rPr lang="en-US" altLang="ko-KR" sz="4400" b="1" dirty="0">
                <a:solidFill>
                  <a:srgbClr val="0F0F70"/>
                </a:solidFill>
                <a:latin typeface="Roboto Black" panose="02000000000000000000" pitchFamily="2" charset="0"/>
              </a:rPr>
              <a:t>Inference</a:t>
            </a:r>
            <a:r>
              <a:rPr lang="ko-KR" altLang="en-US" sz="4400" b="1" dirty="0">
                <a:solidFill>
                  <a:srgbClr val="0F0F70"/>
                </a:solidFill>
                <a:latin typeface="Roboto Black" panose="02000000000000000000" pitchFamily="2" charset="0"/>
              </a:rPr>
              <a:t> </a:t>
            </a:r>
            <a:r>
              <a:rPr lang="en-US" altLang="ko-KR" sz="4400" b="1" dirty="0">
                <a:solidFill>
                  <a:srgbClr val="0F0F70"/>
                </a:solidFill>
                <a:latin typeface="Roboto Black" panose="02000000000000000000" pitchFamily="2" charset="0"/>
              </a:rPr>
              <a:t>Optimization</a:t>
            </a:r>
          </a:p>
          <a:p>
            <a:pPr algn="ctr"/>
            <a:r>
              <a:rPr lang="en-US" altLang="ko-KR" sz="4400" b="1" dirty="0">
                <a:solidFill>
                  <a:srgbClr val="0F0F70"/>
                </a:solidFill>
                <a:latin typeface="Roboto Black" panose="02000000000000000000" pitchFamily="2" charset="0"/>
              </a:rPr>
              <a:t>Using Reconstruction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51521" y="4079485"/>
            <a:ext cx="10688956" cy="10411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200" b="1" dirty="0" err="1">
                <a:latin typeface="Lato" panose="020F0502020204030203" pitchFamily="34" charset="0"/>
                <a:ea typeface="Lato"/>
                <a:cs typeface="Lato"/>
              </a:rPr>
              <a:t>Minchang</a:t>
            </a:r>
            <a:r>
              <a:rPr lang="en-US" altLang="ko-KR" sz="2200" b="1" dirty="0">
                <a:latin typeface="Lato" panose="020F0502020204030203" pitchFamily="34" charset="0"/>
                <a:ea typeface="Lato"/>
                <a:cs typeface="Lato"/>
              </a:rPr>
              <a:t> Kim</a:t>
            </a:r>
          </a:p>
          <a:p>
            <a:pPr algn="ctr">
              <a:lnSpc>
                <a:spcPct val="150000"/>
              </a:lnSpc>
            </a:pPr>
            <a:r>
              <a:rPr lang="en-US" altLang="ko-KR" sz="2200" dirty="0">
                <a:latin typeface="Lato" panose="020F0502020204030203" pitchFamily="34" charset="0"/>
                <a:ea typeface="Lato"/>
                <a:cs typeface="Lato"/>
              </a:rPr>
              <a:t>2026-03-30</a:t>
            </a: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5029040" y="1141749"/>
            <a:ext cx="2133918" cy="44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30153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latinLnBrk="0"/>
            <a:r>
              <a:rPr lang="en-US" altLang="ko-KR" sz="2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WISE Seminar</a:t>
            </a:r>
          </a:p>
        </p:txBody>
      </p:sp>
    </p:spTree>
    <p:extLst>
      <p:ext uri="{BB962C8B-B14F-4D97-AF65-F5344CB8AC3E}">
        <p14:creationId xmlns:p14="http://schemas.microsoft.com/office/powerpoint/2010/main" val="3358037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65F9F-3802-CEC0-2F5F-12B96B23C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C06746-59C3-A6A4-35E2-FEB8FF32690C}"/>
              </a:ext>
            </a:extLst>
          </p:cNvPr>
          <p:cNvSpPr txBox="1"/>
          <p:nvPr/>
        </p:nvSpPr>
        <p:spPr>
          <a:xfrm>
            <a:off x="751522" y="1767329"/>
            <a:ext cx="10688956" cy="4467057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Lato" panose="020F0502020204030203" pitchFamily="34" charset="0"/>
                <a:ea typeface="Lato"/>
                <a:cs typeface="Lato"/>
              </a:rPr>
              <a:t>GNN-IP R&amp;D Proposal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Lato" panose="020F0502020204030203" pitchFamily="34" charset="0"/>
                <a:ea typeface="Lato"/>
                <a:cs typeface="Lato"/>
              </a:rPr>
              <a:t>Equivariant</a:t>
            </a:r>
            <a:r>
              <a:rPr lang="ko-KR" altLang="en-US" sz="2400" b="1" dirty="0">
                <a:latin typeface="Lato" panose="020F0502020204030203" pitchFamily="34" charset="0"/>
                <a:ea typeface="Lato"/>
                <a:cs typeface="Lato"/>
              </a:rPr>
              <a:t> </a:t>
            </a:r>
            <a:r>
              <a:rPr lang="en-US" altLang="ko-KR" sz="2400" b="1" dirty="0">
                <a:latin typeface="Lato" panose="020F0502020204030203" pitchFamily="34" charset="0"/>
                <a:ea typeface="Lato"/>
                <a:cs typeface="Lato"/>
              </a:rPr>
              <a:t>Model </a:t>
            </a:r>
            <a:r>
              <a:rPr lang="en-US" altLang="ko-KR" sz="2400" b="1" dirty="0" err="1">
                <a:latin typeface="Lato" panose="020F0502020204030203" pitchFamily="34" charset="0"/>
                <a:ea typeface="Lato"/>
                <a:cs typeface="Lato"/>
              </a:rPr>
              <a:t>PipeLine</a:t>
            </a:r>
            <a:endParaRPr lang="en-US" altLang="ko-KR" sz="2400" b="1" dirty="0">
              <a:latin typeface="Lato" panose="020F0502020204030203" pitchFamily="34" charset="0"/>
              <a:ea typeface="Lato"/>
              <a:cs typeface="La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Lato" panose="020F0502020204030203" pitchFamily="34" charset="0"/>
                <a:ea typeface="Lato"/>
                <a:cs typeface="Lato"/>
              </a:rPr>
              <a:t>Problem &amp; Challenge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Lato" panose="020F0502020204030203" pitchFamily="34" charset="0"/>
                <a:ea typeface="Lato"/>
                <a:cs typeface="Lato"/>
              </a:rPr>
              <a:t>Related Work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Lato" panose="020F0502020204030203" pitchFamily="34" charset="0"/>
                <a:ea typeface="Lato"/>
                <a:cs typeface="Lato"/>
              </a:rPr>
              <a:t>Proposed Method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Lato" panose="020F0502020204030203" pitchFamily="34" charset="0"/>
                <a:ea typeface="Lato"/>
                <a:cs typeface="Lato"/>
              </a:rPr>
              <a:t>Experiment Plan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Lato" panose="020F0502020204030203" pitchFamily="34" charset="0"/>
                <a:ea typeface="Lato"/>
                <a:cs typeface="Lato"/>
              </a:rPr>
              <a:t>Discussion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400" b="1" dirty="0">
              <a:latin typeface="Lato" panose="020F0502020204030203" pitchFamily="34" charset="0"/>
              <a:ea typeface="Lato"/>
              <a:cs typeface="Lato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D8FDEA01-9FDC-E032-B9AA-77436CC0E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6144" y="569914"/>
            <a:ext cx="4799712" cy="630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30153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 latinLnBrk="0"/>
            <a:r>
              <a:rPr lang="en-US" altLang="ko-KR" sz="3600" b="1" dirty="0"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3978376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1717F-7D81-3B23-3AFE-C5245B4B2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DE2019-5A2F-5AA4-91A7-622FDAD4D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GNN-IP R&amp;D Proposal</a:t>
            </a:r>
            <a:endParaRPr lang="ko-KR" altLang="en-US" dirty="0"/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97C52716-8B8A-1D52-25F2-9C69B5B1DF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5CECA1-5C9B-4693-A1BD-3F65156FCD02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9CA3C9-848B-45FE-4F42-BE2E0CB0C684}"/>
              </a:ext>
            </a:extLst>
          </p:cNvPr>
          <p:cNvSpPr txBox="1"/>
          <p:nvPr/>
        </p:nvSpPr>
        <p:spPr>
          <a:xfrm>
            <a:off x="314585" y="955853"/>
            <a:ext cx="7235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2000" b="1" dirty="0"/>
              <a:t>Year 3</a:t>
            </a:r>
            <a:r>
              <a:rPr kumimoji="1" lang="ko-KR" altLang="en-US" sz="2000" b="1" dirty="0"/>
              <a:t> </a:t>
            </a:r>
            <a:r>
              <a:rPr kumimoji="1" lang="en-US" altLang="ko-KR" sz="2000" b="1" dirty="0"/>
              <a:t>:</a:t>
            </a:r>
            <a:r>
              <a:rPr kumimoji="1" lang="ko-KR" altLang="en-US" sz="2000" b="1" dirty="0"/>
              <a:t> </a:t>
            </a:r>
            <a:r>
              <a:rPr kumimoji="1" lang="en-US" altLang="ko-KR" sz="2000" b="1" dirty="0"/>
              <a:t>Optimization of GNN-IP Kernels and Graph Computation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C4B233-D7F0-D4B4-9858-B76190E4AC09}"/>
              </a:ext>
            </a:extLst>
          </p:cNvPr>
          <p:cNvSpPr txBox="1"/>
          <p:nvPr/>
        </p:nvSpPr>
        <p:spPr>
          <a:xfrm>
            <a:off x="3652355" y="5902147"/>
            <a:ext cx="51635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800" b="1" i="1" dirty="0">
                <a:solidFill>
                  <a:srgbClr val="FF0000"/>
                </a:solidFill>
              </a:rPr>
              <a:t>GNN-IP kernel level optimization</a:t>
            </a:r>
            <a:endParaRPr kumimoji="1" lang="ko-KR" altLang="en-US" sz="2800" b="1" i="1" dirty="0">
              <a:solidFill>
                <a:srgbClr val="FF0000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66940E-0E6A-4CDA-CD07-62E6DEDF87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849" y="1668610"/>
            <a:ext cx="5269038" cy="297381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0424C91-B06E-11C1-084F-8FC0E77EDCB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065" y="1668610"/>
            <a:ext cx="5939129" cy="297381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C7D0C31-BF0E-DE6C-4525-A89A0351DC98}"/>
              </a:ext>
            </a:extLst>
          </p:cNvPr>
          <p:cNvSpPr txBox="1"/>
          <p:nvPr/>
        </p:nvSpPr>
        <p:spPr>
          <a:xfrm>
            <a:off x="568680" y="4955069"/>
            <a:ext cx="50853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000" b="1" dirty="0"/>
              <a:t>Kernel optimization for non–tensor product (Non-TP) operations</a:t>
            </a:r>
            <a:endParaRPr kumimoji="1" lang="ko-KR" altLang="en-US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5FDDE3-E006-BB1C-E619-7DBB55503758}"/>
              </a:ext>
            </a:extLst>
          </p:cNvPr>
          <p:cNvSpPr txBox="1"/>
          <p:nvPr/>
        </p:nvSpPr>
        <p:spPr>
          <a:xfrm>
            <a:off x="6735602" y="4955069"/>
            <a:ext cx="51635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000" b="1" dirty="0">
                <a:latin typeface="+mn-ea"/>
              </a:rPr>
              <a:t>Elimination of redundant computations through restructuring of input representation</a:t>
            </a:r>
            <a:endParaRPr kumimoji="1"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406075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CFB3B-4EC2-15FC-0AAD-8A71579C5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9921D2-F8FB-7C30-C805-0A3DC0B46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GNN-IP R&amp;D Proposal</a:t>
            </a:r>
            <a:endParaRPr lang="ko-KR" altLang="en-US" dirty="0"/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F779244E-8324-9E38-A9CD-0185C2332E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5CECA1-5C9B-4693-A1BD-3F65156FCD02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7C4074-A018-E59E-6830-3E7C2ECF1303}"/>
              </a:ext>
            </a:extLst>
          </p:cNvPr>
          <p:cNvSpPr txBox="1"/>
          <p:nvPr/>
        </p:nvSpPr>
        <p:spPr>
          <a:xfrm>
            <a:off x="465313" y="4357163"/>
            <a:ext cx="5630687" cy="965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ea typeface="맑은 고딕" panose="020B0503020000020004" pitchFamily="50" charset="-127"/>
              </a:rPr>
              <a:t>Design of a training-free adaptive skipping policy leveraging temporal redundancy</a:t>
            </a:r>
            <a:endParaRPr lang="en-US" altLang="ko-KR" sz="2000" dirty="0"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76D67C-A933-701C-5F79-E13F042F475E}"/>
              </a:ext>
            </a:extLst>
          </p:cNvPr>
          <p:cNvSpPr txBox="1"/>
          <p:nvPr/>
        </p:nvSpPr>
        <p:spPr>
          <a:xfrm>
            <a:off x="556638" y="5817060"/>
            <a:ext cx="47323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800" b="1" i="1" dirty="0">
                <a:solidFill>
                  <a:srgbClr val="FF0000"/>
                </a:solidFill>
              </a:rPr>
              <a:t>GNN-IP runtime Optimization</a:t>
            </a:r>
            <a:endParaRPr kumimoji="1" lang="ko-KR" altLang="en-US" sz="2800" b="1" i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B97874-E46D-C743-EC56-DA54CB3B1120}"/>
              </a:ext>
            </a:extLst>
          </p:cNvPr>
          <p:cNvSpPr txBox="1"/>
          <p:nvPr/>
        </p:nvSpPr>
        <p:spPr>
          <a:xfrm>
            <a:off x="205740" y="959904"/>
            <a:ext cx="50832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000" b="1" dirty="0"/>
              <a:t>Year 4</a:t>
            </a:r>
            <a:r>
              <a:rPr kumimoji="1" lang="ko-KR" altLang="en-US" sz="2000" b="1" dirty="0"/>
              <a:t> </a:t>
            </a:r>
            <a:r>
              <a:rPr kumimoji="1" lang="en-US" altLang="ko-KR" sz="2000" b="1" dirty="0"/>
              <a:t>:</a:t>
            </a:r>
            <a:r>
              <a:rPr kumimoji="1" lang="ko-KR" altLang="en-US" sz="2000" b="1" dirty="0"/>
              <a:t> </a:t>
            </a:r>
            <a:r>
              <a:rPr kumimoji="1" lang="en-US" altLang="ko-KR" sz="2000" b="1" dirty="0"/>
              <a:t>Optimization of GNN-IP Kernels and Graph Computation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60AB7F4-0B96-968A-CB44-E67B44B3181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54" y="1853901"/>
            <a:ext cx="5204955" cy="228988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9DE4D9D-E591-4E14-0539-6A5CAD3BA7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5781" y="2116477"/>
            <a:ext cx="5913798" cy="17647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8888F0-5F7F-E531-FCF7-FA0700E8F9F9}"/>
              </a:ext>
            </a:extLst>
          </p:cNvPr>
          <p:cNvSpPr txBox="1"/>
          <p:nvPr/>
        </p:nvSpPr>
        <p:spPr>
          <a:xfrm>
            <a:off x="6271513" y="4357163"/>
            <a:ext cx="5213227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ea typeface="맑은 고딕" panose="020B0503020000020004" pitchFamily="50" charset="-127"/>
              </a:rPr>
              <a:t>Scalable GNN-IP inference acceleration for multi-GPU and multi-node simulation settings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02A914-BF4D-5097-D955-9ECBD0D617A3}"/>
              </a:ext>
            </a:extLst>
          </p:cNvPr>
          <p:cNvSpPr txBox="1"/>
          <p:nvPr/>
        </p:nvSpPr>
        <p:spPr>
          <a:xfrm>
            <a:off x="6005781" y="835767"/>
            <a:ext cx="5831023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ea typeface="맑은 고딕" panose="020B0503020000020004" pitchFamily="50" charset="-127"/>
              </a:rPr>
              <a:t>Year 5:</a:t>
            </a:r>
            <a:r>
              <a:rPr lang="ko-KR" altLang="en-US" sz="2000" b="1" dirty="0">
                <a:ea typeface="맑은 고딕" panose="020B0503020000020004" pitchFamily="50" charset="-127"/>
              </a:rPr>
              <a:t> </a:t>
            </a:r>
            <a:r>
              <a:rPr lang="en-US" altLang="ko-KR" sz="2000" b="1" dirty="0">
                <a:ea typeface="맑은 고딕" panose="020B0503020000020004" pitchFamily="50" charset="-127"/>
              </a:rPr>
              <a:t>Acceleration of GNN-IP Inference in Multi-GPU / Multi-node Environments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68321E-BA3C-A412-6F37-67354280D338}"/>
              </a:ext>
            </a:extLst>
          </p:cNvPr>
          <p:cNvSpPr txBox="1"/>
          <p:nvPr/>
        </p:nvSpPr>
        <p:spPr>
          <a:xfrm>
            <a:off x="5615054" y="5817060"/>
            <a:ext cx="6526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800" b="1" i="1" dirty="0">
                <a:solidFill>
                  <a:srgbClr val="FF0000"/>
                </a:solidFill>
              </a:rPr>
              <a:t>GNN-IP </a:t>
            </a:r>
            <a:r>
              <a:rPr kumimoji="1" lang="en-US" altLang="ko-KR" sz="2800" b="1" i="1" dirty="0" err="1">
                <a:solidFill>
                  <a:srgbClr val="FF0000"/>
                </a:solidFill>
              </a:rPr>
              <a:t>Distiributed</a:t>
            </a:r>
            <a:r>
              <a:rPr kumimoji="1" lang="en-US" altLang="ko-KR" sz="2800" b="1" i="1" dirty="0">
                <a:solidFill>
                  <a:srgbClr val="FF0000"/>
                </a:solidFill>
              </a:rPr>
              <a:t> System Optimization</a:t>
            </a:r>
            <a:endParaRPr kumimoji="1" lang="ko-KR" altLang="en-US" sz="28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0498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01659-D0BC-A1B6-12C2-AB31E24E5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5F5E72-A91D-1180-13C0-65C3BA665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Equivariant Model Pipeline (</a:t>
            </a:r>
            <a:r>
              <a:rPr lang="en-US" altLang="ko-KR" dirty="0" err="1"/>
              <a:t>NequIP</a:t>
            </a:r>
            <a:r>
              <a:rPr lang="en-US" altLang="ko-KR" dirty="0"/>
              <a:t>)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D934FD-8444-9F33-B1BF-02D9283377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5CECA1-5C9B-4693-A1BD-3F65156FCD02}" type="slidenum">
              <a:rPr lang="ko-KR" altLang="en-US" smtClean="0"/>
              <a:pPr/>
              <a:t>5</a:t>
            </a:fld>
            <a:endParaRPr lang="ko-KR" altLang="en-US" sz="125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09AB6C0-B06A-0BAF-5E91-A47BD31D32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14" y="1145754"/>
            <a:ext cx="11851972" cy="5211779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4C250CCA-314A-72F9-9E42-F5E3839F9494}"/>
              </a:ext>
            </a:extLst>
          </p:cNvPr>
          <p:cNvSpPr txBox="1">
            <a:spLocks/>
          </p:cNvSpPr>
          <p:nvPr/>
        </p:nvSpPr>
        <p:spPr>
          <a:xfrm>
            <a:off x="0" y="6497463"/>
            <a:ext cx="11757660" cy="10985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14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28600" algn="l" defTabSz="914400" rtl="0" eaLnBrk="1" latinLnBrk="1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ko-KR" sz="800" dirty="0" err="1">
                <a:solidFill>
                  <a:schemeClr val="bg1"/>
                </a:solidFill>
              </a:rPr>
              <a:t>NequIP</a:t>
            </a:r>
            <a:r>
              <a:rPr lang="en-US" altLang="ko-KR" sz="800" dirty="0">
                <a:solidFill>
                  <a:schemeClr val="bg1"/>
                </a:solidFill>
              </a:rPr>
              <a:t>: </a:t>
            </a:r>
            <a:r>
              <a:rPr lang="en-US" altLang="ko-KR" sz="800" dirty="0" err="1">
                <a:solidFill>
                  <a:schemeClr val="bg1"/>
                </a:solidFill>
              </a:rPr>
              <a:t>Batzner</a:t>
            </a:r>
            <a:r>
              <a:rPr lang="en-US" altLang="ko-KR" sz="800" dirty="0">
                <a:solidFill>
                  <a:schemeClr val="bg1"/>
                </a:solidFill>
              </a:rPr>
              <a:t>, S. et al., E(3)-equivariant graph neural networks for data-efficient and accurate interatomic potentials. Nat Commun 13, 2453 (2022).</a:t>
            </a:r>
          </a:p>
        </p:txBody>
      </p:sp>
    </p:spTree>
    <p:extLst>
      <p:ext uri="{BB962C8B-B14F-4D97-AF65-F5344CB8AC3E}">
        <p14:creationId xmlns:p14="http://schemas.microsoft.com/office/powerpoint/2010/main" val="3080800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8233B-85DE-DB52-0793-28A726EFD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A0B2C2-BF94-E944-2FC1-7D35E381A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Problem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440F44-81D2-EF61-DCA4-A54F147669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5CECA1-5C9B-4693-A1BD-3F65156FCD02}" type="slidenum">
              <a:rPr lang="ko-KR" altLang="en-US" smtClean="0"/>
              <a:pPr/>
              <a:t>6</a:t>
            </a:fld>
            <a:endParaRPr lang="ko-KR" altLang="en-US" sz="1250" dirty="0"/>
          </a:p>
        </p:txBody>
      </p:sp>
      <p:sp>
        <p:nvSpPr>
          <p:cNvPr id="6" name="AutoShape 4" descr="출력 이미지">
            <a:extLst>
              <a:ext uri="{FF2B5EF4-FFF2-40B4-BE49-F238E27FC236}">
                <a16:creationId xmlns:a16="http://schemas.microsoft.com/office/drawing/2014/main" id="{E4C193FB-35DC-6BCF-DE80-03D85A90BED4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6001124" y="1005629"/>
            <a:ext cx="6263734" cy="5460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0000"/>
              </a:lnSpc>
            </a:pPr>
            <a:r>
              <a:rPr lang="en" altLang="ko-KR" b="1" dirty="0"/>
              <a:t>Pair-invariant reusable </a:t>
            </a:r>
          </a:p>
          <a:p>
            <a:pPr lvl="1">
              <a:lnSpc>
                <a:spcPct val="100000"/>
              </a:lnSpc>
            </a:pPr>
            <a:r>
              <a:rPr lang="en-US" altLang="ko-KR" sz="2400" b="1" dirty="0"/>
              <a:t>D</a:t>
            </a:r>
            <a:r>
              <a:rPr lang="en" altLang="ko-KR" sz="2400" b="1" dirty="0"/>
              <a:t>istance</a:t>
            </a:r>
          </a:p>
          <a:p>
            <a:pPr lvl="1">
              <a:lnSpc>
                <a:spcPct val="100000"/>
              </a:lnSpc>
            </a:pPr>
            <a:r>
              <a:rPr lang="en" altLang="ko-KR" sz="2400" b="1" dirty="0"/>
              <a:t>Radial basis</a:t>
            </a:r>
          </a:p>
          <a:p>
            <a:pPr lvl="1">
              <a:lnSpc>
                <a:spcPct val="100000"/>
              </a:lnSpc>
            </a:pPr>
            <a:r>
              <a:rPr lang="en" altLang="ko-KR" sz="2400" b="1" dirty="0"/>
              <a:t>Cutoff</a:t>
            </a:r>
          </a:p>
          <a:p>
            <a:pPr>
              <a:lnSpc>
                <a:spcPct val="100000"/>
              </a:lnSpc>
            </a:pPr>
            <a:r>
              <a:rPr lang="en" altLang="ko-KR" b="1" dirty="0"/>
              <a:t>Direction-</a:t>
            </a:r>
            <a:r>
              <a:rPr lang="en" altLang="ko-KR" b="1" dirty="0" err="1"/>
              <a:t>reconstructable</a:t>
            </a:r>
            <a:endParaRPr lang="en" altLang="ko-KR" b="1" dirty="0"/>
          </a:p>
          <a:p>
            <a:pPr lvl="1">
              <a:lnSpc>
                <a:spcPct val="100000"/>
              </a:lnSpc>
            </a:pPr>
            <a:r>
              <a:rPr lang="en" altLang="ko-KR" sz="2400" b="1" dirty="0"/>
              <a:t>Spherical harmonics</a:t>
            </a:r>
          </a:p>
          <a:p>
            <a:pPr lvl="1">
              <a:lnSpc>
                <a:spcPct val="100000"/>
              </a:lnSpc>
            </a:pPr>
            <a:r>
              <a:rPr lang="en-US" altLang="ko-KR" sz="2400" b="1" dirty="0"/>
              <a:t>W</a:t>
            </a:r>
            <a:r>
              <a:rPr lang="en" altLang="ko-KR" sz="2400" b="1" dirty="0"/>
              <a:t>eighted filter (NequIP)</a:t>
            </a:r>
          </a:p>
          <a:p>
            <a:pPr>
              <a:lnSpc>
                <a:spcPct val="100000"/>
              </a:lnSpc>
            </a:pPr>
            <a:r>
              <a:rPr lang="en" altLang="ko-KR" b="1" dirty="0"/>
              <a:t>Directed-edge-only</a:t>
            </a:r>
          </a:p>
          <a:p>
            <a:pPr lvl="1">
              <a:lnSpc>
                <a:spcPct val="100000"/>
              </a:lnSpc>
            </a:pPr>
            <a:r>
              <a:rPr lang="en-US" altLang="ko-KR" sz="2400" b="1" dirty="0"/>
              <a:t>M</a:t>
            </a:r>
            <a:r>
              <a:rPr lang="en" altLang="ko-KR" sz="2400" b="1" dirty="0"/>
              <a:t>essage</a:t>
            </a:r>
          </a:p>
          <a:p>
            <a:pPr lvl="1">
              <a:lnSpc>
                <a:spcPct val="100000"/>
              </a:lnSpc>
            </a:pPr>
            <a:r>
              <a:rPr lang="en" altLang="ko-KR" sz="2400" b="1" dirty="0"/>
              <a:t>Tensor product</a:t>
            </a:r>
          </a:p>
          <a:p>
            <a:pPr>
              <a:lnSpc>
                <a:spcPct val="100000"/>
              </a:lnSpc>
            </a:pPr>
            <a:r>
              <a:rPr lang="en" altLang="ko-KR" b="1" dirty="0">
                <a:solidFill>
                  <a:srgbClr val="FF0000"/>
                </a:solidFill>
              </a:rPr>
              <a:t>Preserve the original model, but execute pair-shared geometry only once</a:t>
            </a:r>
          </a:p>
          <a:p>
            <a:pPr>
              <a:lnSpc>
                <a:spcPct val="100000"/>
              </a:lnSpc>
            </a:pPr>
            <a:endParaRPr lang="ko-KR" altLang="en-US" b="1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B6C48932-351F-585E-824E-7554A2B816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344" r="46585" b="19005"/>
          <a:stretch>
            <a:fillRect/>
          </a:stretch>
        </p:blipFill>
        <p:spPr>
          <a:xfrm>
            <a:off x="303626" y="857361"/>
            <a:ext cx="5599612" cy="560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856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4E5486-506F-B5B5-CFAC-29F7AAA68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Challenge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C61476-21DD-AB39-703A-7359EC83A7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5CECA1-5C9B-4693-A1BD-3F65156FCD02}" type="slidenum">
              <a:rPr lang="ko-KR" altLang="en-US" smtClean="0"/>
              <a:pPr/>
              <a:t>7</a:t>
            </a:fld>
            <a:endParaRPr lang="ko-KR" altLang="en-US" sz="1250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78048DA1-E080-2B9F-3979-5DDF6870B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170" y="1490215"/>
            <a:ext cx="11757660" cy="4351353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b="1" dirty="0">
                <a:latin typeface="+mn-ea"/>
              </a:rPr>
              <a:t>Structural Inefficiency: Edge-wise Redundancy</a:t>
            </a:r>
          </a:p>
          <a:p>
            <a:pPr lvl="1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Redundant Geometric Computation</a:t>
            </a:r>
          </a:p>
          <a:p>
            <a:pPr lvl="2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Standard </a:t>
            </a:r>
            <a:r>
              <a:rPr lang="en-US" altLang="ko-KR" dirty="0" err="1">
                <a:latin typeface="+mn-ea"/>
              </a:rPr>
              <a:t>NequIP</a:t>
            </a:r>
            <a:r>
              <a:rPr lang="en-US" altLang="ko-KR" dirty="0">
                <a:latin typeface="+mn-ea"/>
              </a:rPr>
              <a:t> processes each directed edge independently, leading to duplicated calculations for distance and radial basis</a:t>
            </a:r>
          </a:p>
          <a:p>
            <a:pPr lvl="1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Pair-wise </a:t>
            </a:r>
            <a:r>
              <a:rPr lang="en-US" altLang="ko-KR" sz="2400" b="1" dirty="0" err="1">
                <a:latin typeface="+mn-ea"/>
              </a:rPr>
              <a:t>Reconstructuring</a:t>
            </a:r>
            <a:endParaRPr lang="en-US" altLang="ko-KR" sz="2400" b="1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The input flow must be restructured around pair-based execution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65508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1C71F-4704-8CB1-1CA8-1D9D78075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D0CF4E-E3A0-E204-9D28-C1974DCE9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Challenge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0EAA8E-EAE5-1F77-8531-90ECCB1F1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5CECA1-5C9B-4693-A1BD-3F65156FCD02}" type="slidenum">
              <a:rPr lang="ko-KR" altLang="en-US" smtClean="0"/>
              <a:pPr/>
              <a:t>8</a:t>
            </a:fld>
            <a:endParaRPr lang="ko-KR" altLang="en-US" sz="1250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A78149-CC4F-D8D8-71E8-B93264893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170" y="958594"/>
            <a:ext cx="11757660" cy="541459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b="1" dirty="0">
                <a:latin typeface="+mn-ea"/>
              </a:rPr>
              <a:t>2.   Integration of </a:t>
            </a:r>
            <a:r>
              <a:rPr lang="en-US" altLang="ko-KR" b="1" dirty="0" err="1">
                <a:latin typeface="+mn-ea"/>
              </a:rPr>
              <a:t>FlashTP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&amp;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JIT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Compilation</a:t>
            </a:r>
          </a:p>
          <a:p>
            <a:pPr lvl="1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Synergy with </a:t>
            </a:r>
            <a:r>
              <a:rPr lang="en-US" altLang="ko-KR" sz="2400" b="1" dirty="0" err="1">
                <a:latin typeface="+mn-ea"/>
              </a:rPr>
              <a:t>FlashTP</a:t>
            </a:r>
            <a:endParaRPr lang="en-US" altLang="ko-KR" sz="2400" b="1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Beyond simple TP acceleration, the method requires tight integration of </a:t>
            </a:r>
            <a:r>
              <a:rPr lang="en-US" altLang="ko-KR" dirty="0" err="1">
                <a:latin typeface="+mn-ea"/>
              </a:rPr>
              <a:t>FlashTP</a:t>
            </a:r>
            <a:r>
              <a:rPr lang="en-US" altLang="ko-KR" dirty="0">
                <a:latin typeface="+mn-ea"/>
              </a:rPr>
              <a:t>-style fused kernels with pair-wise reuse</a:t>
            </a:r>
          </a:p>
          <a:p>
            <a:pPr lvl="1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High Implementation Difficulty</a:t>
            </a:r>
          </a:p>
          <a:p>
            <a:pPr lvl="2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JIT (Just-In-Time) Compilation: Generating and compiling graph-specific CUDA/Triton code at runtime</a:t>
            </a:r>
          </a:p>
          <a:p>
            <a:pPr lvl="2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Dynamic Topology: Significant challenge in building optimized kernels tailored to varying graph structures during inference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20975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CA24E-876A-1B7D-0D20-D81DFCA50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216E1-E25A-05D3-2904-30E39D5A3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Related Work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0BAE29-D28B-F605-2410-AAC56825BB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5CECA1-5C9B-4693-A1BD-3F65156FCD02}" type="slidenum">
              <a:rPr lang="ko-KR" altLang="en-US" smtClean="0"/>
              <a:pPr/>
              <a:t>9</a:t>
            </a:fld>
            <a:endParaRPr lang="ko-KR" altLang="en-US" sz="1250" dirty="0"/>
          </a:p>
        </p:txBody>
      </p:sp>
      <p:sp>
        <p:nvSpPr>
          <p:cNvPr id="6" name="AutoShape 4" descr="출력 이미지">
            <a:extLst>
              <a:ext uri="{FF2B5EF4-FFF2-40B4-BE49-F238E27FC236}">
                <a16:creationId xmlns:a16="http://schemas.microsoft.com/office/drawing/2014/main" id="{FB765422-01A1-573D-CA4B-C65366D9D2BC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387802" y="935621"/>
            <a:ext cx="11480347" cy="5146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sz="2800" b="1" dirty="0" err="1"/>
              <a:t>FlashTP</a:t>
            </a:r>
            <a:r>
              <a:rPr lang="en-US" altLang="ko-KR" sz="2800" b="1" dirty="0"/>
              <a:t>, </a:t>
            </a:r>
            <a:r>
              <a:rPr lang="en-US" altLang="ko-KR" sz="2800" b="1" dirty="0" err="1"/>
              <a:t>SevenNet</a:t>
            </a:r>
            <a:r>
              <a:rPr lang="en-US" altLang="ko-KR" sz="2800" b="1" dirty="0"/>
              <a:t> : System-level Acceleration</a:t>
            </a:r>
          </a:p>
          <a:p>
            <a:pPr lvl="1"/>
            <a:r>
              <a:rPr lang="en-US" altLang="ko-KR" sz="2400" b="1" dirty="0"/>
              <a:t>Focuses heavily on Tensor Product (TP) fusion and parallel scaling, let leaves the upstream bidirectional geometric redundancies do not explicitly target.</a:t>
            </a:r>
          </a:p>
          <a:p>
            <a:r>
              <a:rPr lang="en-US" altLang="ko-KR" sz="2800" b="1" dirty="0"/>
              <a:t>NEMP : Algorithmic Modification</a:t>
            </a:r>
          </a:p>
          <a:p>
            <a:pPr lvl="1"/>
            <a:r>
              <a:rPr lang="en-US" altLang="ko-KR" sz="2400" b="1" dirty="0"/>
              <a:t>Reduces overhead by aggregating features in the node space,  but  changes the original message-passing formulation</a:t>
            </a:r>
          </a:p>
          <a:p>
            <a:pPr lvl="1"/>
            <a:r>
              <a:rPr lang="en-US" altLang="ko-KR" sz="2400" b="1" dirty="0">
                <a:solidFill>
                  <a:srgbClr val="FF0000"/>
                </a:solidFill>
              </a:rPr>
              <a:t>To the best of my current survey, I’ve not yet found papers that removes this </a:t>
            </a:r>
            <a:r>
              <a:rPr lang="en-US" altLang="ko-KR" sz="2400" b="1" dirty="0" err="1">
                <a:solidFill>
                  <a:srgbClr val="FF0000"/>
                </a:solidFill>
              </a:rPr>
              <a:t>rebundacy</a:t>
            </a:r>
            <a:r>
              <a:rPr lang="en-US" altLang="ko-KR" sz="2400" b="1" dirty="0">
                <a:solidFill>
                  <a:srgbClr val="FF0000"/>
                </a:solidFill>
              </a:rPr>
              <a:t> while strictly preserving the original formulation</a:t>
            </a:r>
          </a:p>
          <a:p>
            <a:endParaRPr lang="ko-KR" altLang="en-US" sz="2800" b="1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D0EE7492-EAF0-AD19-CAAA-86C171E372CD}"/>
              </a:ext>
            </a:extLst>
          </p:cNvPr>
          <p:cNvSpPr txBox="1">
            <a:spLocks/>
          </p:cNvSpPr>
          <p:nvPr/>
        </p:nvSpPr>
        <p:spPr>
          <a:xfrm>
            <a:off x="50800" y="5532394"/>
            <a:ext cx="11757660" cy="10985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14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28600" algn="l" defTabSz="914400" rtl="0" eaLnBrk="1" latinLnBrk="1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800" dirty="0" err="1"/>
              <a:t>NequIP</a:t>
            </a:r>
            <a:r>
              <a:rPr lang="en-US" altLang="ko-KR" sz="800" dirty="0"/>
              <a:t>: </a:t>
            </a:r>
            <a:r>
              <a:rPr lang="en-US" altLang="ko-KR" sz="800" dirty="0" err="1"/>
              <a:t>Batzner</a:t>
            </a:r>
            <a:r>
              <a:rPr lang="en-US" altLang="ko-KR" sz="800" dirty="0"/>
              <a:t>, S. et al., E(3)-equivariant graph neural networks for data-efficient and accurate interatomic potentials. Nat Commun 13, 2453 (2022).</a:t>
            </a:r>
          </a:p>
          <a:p>
            <a:pPr>
              <a:lnSpc>
                <a:spcPct val="100000"/>
              </a:lnSpc>
            </a:pPr>
            <a:r>
              <a:rPr lang="en-US" altLang="ko-KR" sz="800" dirty="0" err="1"/>
              <a:t>SevenNet</a:t>
            </a:r>
            <a:r>
              <a:rPr lang="en-US" altLang="ko-KR" sz="800" dirty="0"/>
              <a:t>: MDIL-SNU., </a:t>
            </a:r>
            <a:r>
              <a:rPr lang="en-US" altLang="ko-KR" sz="800" dirty="0" err="1"/>
              <a:t>SevenNet</a:t>
            </a:r>
            <a:r>
              <a:rPr lang="en-US" altLang="ko-KR" sz="800" dirty="0"/>
              <a:t> - a graph neural network interatomic potential package supporting efficient multi-GPU parallel molecular dynamics simulations. J. Chem. Theory </a:t>
            </a:r>
            <a:r>
              <a:rPr lang="en-US" altLang="ko-KR" sz="800" dirty="0" err="1"/>
              <a:t>Comput</a:t>
            </a:r>
            <a:r>
              <a:rPr lang="en-US" altLang="ko-KR" sz="800" dirty="0"/>
              <a:t>. (2024).</a:t>
            </a:r>
          </a:p>
          <a:p>
            <a:pPr>
              <a:lnSpc>
                <a:spcPct val="100000"/>
              </a:lnSpc>
            </a:pPr>
            <a:r>
              <a:rPr lang="en-US" altLang="ko-KR" sz="800" dirty="0"/>
              <a:t>NEMP: Zhang, Y., &amp; Guo, H., Node-Equivariant Message Passing for Efficient and Accurate Machine Learning Interatomic Potentials. Chem. Sci. (2025).</a:t>
            </a:r>
          </a:p>
          <a:p>
            <a:pPr>
              <a:lnSpc>
                <a:spcPct val="100000"/>
              </a:lnSpc>
            </a:pPr>
            <a:r>
              <a:rPr lang="en-US" altLang="ko-KR" sz="800" dirty="0" err="1"/>
              <a:t>FlashTP</a:t>
            </a:r>
            <a:r>
              <a:rPr lang="en-US" altLang="ko-KR" sz="800" dirty="0"/>
              <a:t>: Lee, et al., </a:t>
            </a:r>
            <a:r>
              <a:rPr lang="en-US" altLang="ko-KR" sz="800" dirty="0" err="1"/>
              <a:t>FlashTP</a:t>
            </a:r>
            <a:r>
              <a:rPr lang="en-US" altLang="ko-KR" sz="800" dirty="0"/>
              <a:t>: Fused, Sparsity-Aware Tensor Product for Machine Learning Interatomic Potentials. ICML (2024).</a:t>
            </a:r>
          </a:p>
        </p:txBody>
      </p:sp>
    </p:spTree>
    <p:extLst>
      <p:ext uri="{BB962C8B-B14F-4D97-AF65-F5344CB8AC3E}">
        <p14:creationId xmlns:p14="http://schemas.microsoft.com/office/powerpoint/2010/main" val="3132271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E8F43-F13A-1B1F-3435-983C88A71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F33B15-9E6F-A005-0FDE-8968B91FF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Proposed Method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B2A9C1-BFCF-547A-7687-3BAD318A6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9702" y="6522302"/>
            <a:ext cx="11757660" cy="219711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" altLang="ko-KR" sz="800" dirty="0" err="1">
                <a:solidFill>
                  <a:schemeClr val="bg1"/>
                </a:solidFill>
              </a:rPr>
              <a:t>Batzner</a:t>
            </a:r>
            <a:r>
              <a:rPr lang="en" altLang="ko-KR" sz="800" dirty="0">
                <a:solidFill>
                  <a:schemeClr val="bg1"/>
                </a:solidFill>
              </a:rPr>
              <a:t>, S., </a:t>
            </a:r>
            <a:r>
              <a:rPr lang="en" altLang="ko-KR" sz="800" dirty="0" err="1">
                <a:solidFill>
                  <a:schemeClr val="bg1"/>
                </a:solidFill>
              </a:rPr>
              <a:t>Musaelian</a:t>
            </a:r>
            <a:r>
              <a:rPr lang="en" altLang="ko-KR" sz="800" dirty="0">
                <a:solidFill>
                  <a:schemeClr val="bg1"/>
                </a:solidFill>
              </a:rPr>
              <a:t>, A., Sun, L. et al. E(3)-equivariant graph neural networks for data-efficient and accurate interatomic potentials. Nat Commun 13, 2453 (2022). </a:t>
            </a:r>
            <a:endParaRPr lang="en-US" altLang="ko-KR" sz="800" dirty="0">
              <a:solidFill>
                <a:schemeClr val="bg1"/>
              </a:solidFill>
              <a:cs typeface="Lato"/>
            </a:endParaRP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BEC1A68F-9D5B-7F95-E7BD-16E3F63FD7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5CECA1-5C9B-4693-A1BD-3F65156FCD02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5BD69390-484A-E9E6-BE76-9C78EC746110}"/>
              </a:ext>
            </a:extLst>
          </p:cNvPr>
          <p:cNvSpPr txBox="1">
            <a:spLocks/>
          </p:cNvSpPr>
          <p:nvPr/>
        </p:nvSpPr>
        <p:spPr>
          <a:xfrm>
            <a:off x="371242" y="3862133"/>
            <a:ext cx="11615018" cy="24719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1" hangingPunct="1">
              <a:lnSpc>
                <a:spcPct val="14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28600" algn="l" defTabSz="914400" rtl="0" eaLnBrk="1" latinLnBrk="1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/>
              <a:t>How E(3)-equivariant models encode geometry (Rotation + Translation + Reflection)</a:t>
            </a:r>
          </a:p>
          <a:p>
            <a:pPr lvl="1"/>
            <a:r>
              <a:rPr lang="en-US" altLang="ko-KR" sz="1800" b="1" dirty="0"/>
              <a:t>Rotation : Spherical Harmonics : SO(3) irreps expression (scalar + vector + tensor)</a:t>
            </a:r>
          </a:p>
          <a:p>
            <a:pPr lvl="1"/>
            <a:r>
              <a:rPr lang="en-US" altLang="ko-KR" sz="1800" b="1" dirty="0"/>
              <a:t>Translation :  Absolute positions are removed by using relative coordinates, so the model becomes translation-invariant </a:t>
            </a:r>
          </a:p>
          <a:p>
            <a:pPr lvl="1"/>
            <a:r>
              <a:rPr lang="en-US" altLang="ko-KR" sz="1800" b="1" dirty="0"/>
              <a:t>Reflection :  Even / Odd parity is determined by the degree l </a:t>
            </a:r>
          </a:p>
          <a:p>
            <a:pPr lvl="1"/>
            <a:r>
              <a:rPr lang="en-US" altLang="ko-KR" sz="2800" b="1" dirty="0">
                <a:solidFill>
                  <a:srgbClr val="FF0000"/>
                </a:solidFill>
              </a:rPr>
              <a:t>Reflection symmetry is handled via parity transformation</a:t>
            </a:r>
          </a:p>
          <a:p>
            <a:pPr lvl="2"/>
            <a:endParaRPr lang="en-US" altLang="ko-KR" b="1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0B9ADA8-7138-6EBC-963A-6389096C83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921" y="922772"/>
            <a:ext cx="9519660" cy="2980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091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FCAD20-909D-DDAB-EFEE-D5C90F1BE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Why focus on Spherical Harmonics reuse?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55CEFC-8085-4F1B-D355-D2EAB2267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740" y="1092866"/>
            <a:ext cx="11757660" cy="514605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ko-KR" sz="2200" b="1" dirty="0"/>
              <a:t>1. </a:t>
            </a:r>
            <a:r>
              <a:rPr lang="en-US" altLang="ko-KR" b="1" dirty="0"/>
              <a:t>The Bottleneck: Spherical Harmonics </a:t>
            </a:r>
          </a:p>
          <a:p>
            <a:pPr lvl="1">
              <a:lnSpc>
                <a:spcPct val="100000"/>
              </a:lnSpc>
            </a:pPr>
            <a:r>
              <a:rPr lang="en-US" altLang="ko-KR" dirty="0"/>
              <a:t>Even with modern Cartesian-polynomial implementations, </a:t>
            </a:r>
            <a:r>
              <a:rPr lang="en-US" altLang="ko-KR" b="1" dirty="0"/>
              <a:t>SH remains a visible geometric cost when the graph is large.</a:t>
            </a:r>
          </a:p>
          <a:p>
            <a:pPr lvl="1">
              <a:lnSpc>
                <a:spcPct val="100000"/>
              </a:lnSpc>
            </a:pPr>
            <a:r>
              <a:rPr lang="en-US" altLang="ko-KR" dirty="0"/>
              <a:t>Profiling result: In our lab baseline profiling, SH takes roughly 18-26% of model time on large dense cases such as </a:t>
            </a:r>
            <a:r>
              <a:rPr lang="en-US" altLang="ko-KR" dirty="0" err="1"/>
              <a:t>MPtrj</a:t>
            </a:r>
            <a:r>
              <a:rPr lang="en-US" altLang="ko-KR" dirty="0"/>
              <a:t> and MD22 nanotube.</a:t>
            </a:r>
          </a:p>
          <a:p>
            <a:pPr>
              <a:lnSpc>
                <a:spcPct val="100000"/>
              </a:lnSpc>
            </a:pPr>
            <a:r>
              <a:rPr lang="en-US" altLang="ko-KR" sz="2200" b="1" dirty="0"/>
              <a:t>2. </a:t>
            </a:r>
            <a:r>
              <a:rPr lang="en-US" altLang="ko-KR" b="1" dirty="0"/>
              <a:t>Mathematical Foundation: Parity Property</a:t>
            </a:r>
          </a:p>
          <a:p>
            <a:pPr lvl="1">
              <a:lnSpc>
                <a:spcPct val="100000"/>
              </a:lnSpc>
            </a:pPr>
            <a:r>
              <a:rPr lang="en-US" altLang="ko-KR" dirty="0"/>
              <a:t>The inputs for bidirectional edges (</a:t>
            </a:r>
            <a:r>
              <a:rPr lang="en-US" altLang="ko-KR" dirty="0" err="1"/>
              <a:t>i</a:t>
            </a:r>
            <a:r>
              <a:rPr lang="en-US" altLang="ko-KR" dirty="0"/>
              <a:t> to j and j to </a:t>
            </a:r>
            <a:r>
              <a:rPr lang="en-US" altLang="ko-KR" dirty="0" err="1"/>
              <a:t>i</a:t>
            </a:r>
            <a:r>
              <a:rPr lang="en-US" altLang="ko-KR" dirty="0"/>
              <a:t>) contain identical geometric information, differing only by an equivariant transformation</a:t>
            </a:r>
          </a:p>
          <a:p>
            <a:pPr>
              <a:lnSpc>
                <a:spcPct val="100000"/>
              </a:lnSpc>
            </a:pPr>
            <a:r>
              <a:rPr lang="en-US" altLang="ko-KR" sz="2200" b="1" dirty="0"/>
              <a:t>3. </a:t>
            </a:r>
            <a:r>
              <a:rPr lang="en-US" altLang="ko-KR" b="1" dirty="0"/>
              <a:t>Proposed Solution: Sign Flip Reuse</a:t>
            </a:r>
          </a:p>
          <a:p>
            <a:pPr lvl="1">
              <a:lnSpc>
                <a:spcPct val="100000"/>
              </a:lnSpc>
            </a:pPr>
            <a:r>
              <a:rPr lang="en-US" altLang="ko-KR" dirty="0"/>
              <a:t>Compute Once: Calculate spherical harmonics only for one canonical direction within each pair.</a:t>
            </a:r>
          </a:p>
          <a:p>
            <a:pPr lvl="1">
              <a:lnSpc>
                <a:spcPct val="100000"/>
              </a:lnSpc>
            </a:pPr>
            <a:r>
              <a:rPr lang="en-US" altLang="ko-KR" dirty="0"/>
              <a:t>Instant Reuse: Recover the reverse edge by parity sign, instead of recomputing the same geometry.</a:t>
            </a:r>
          </a:p>
          <a:p>
            <a:pPr>
              <a:lnSpc>
                <a:spcPct val="100000"/>
              </a:lnSpc>
            </a:pPr>
            <a:endParaRPr lang="en-US" altLang="ko-KR" sz="2200" b="1" dirty="0"/>
          </a:p>
          <a:p>
            <a:pPr>
              <a:lnSpc>
                <a:spcPct val="100000"/>
              </a:lnSpc>
            </a:pPr>
            <a:endParaRPr lang="ko-KR" altLang="en-US" sz="22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2D5A78-CA3C-8A2C-AC9E-21B5EC35EF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5CECA1-5C9B-4693-A1BD-3F65156FCD02}" type="slidenum">
              <a:rPr lang="ko-KR" altLang="en-US" smtClean="0"/>
              <a:pPr/>
              <a:t>11</a:t>
            </a:fld>
            <a:endParaRPr lang="ko-KR" altLang="en-US" sz="1250" dirty="0"/>
          </a:p>
        </p:txBody>
      </p:sp>
    </p:spTree>
    <p:extLst>
      <p:ext uri="{BB962C8B-B14F-4D97-AF65-F5344CB8AC3E}">
        <p14:creationId xmlns:p14="http://schemas.microsoft.com/office/powerpoint/2010/main" val="943635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058034-6B6D-0671-C4E0-3F0621CA7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Proposed Method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EBB03D-DE8F-DC97-AFE0-707FDAF739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5CECA1-5C9B-4693-A1BD-3F65156FCD02}" type="slidenum">
              <a:rPr lang="ko-KR" altLang="en-US" smtClean="0"/>
              <a:pPr/>
              <a:t>12</a:t>
            </a:fld>
            <a:endParaRPr lang="ko-KR" altLang="en-US" sz="1250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F0ED62C-385E-BF75-4522-6DCE134590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6899" t="4427" r="12520" b="13626"/>
          <a:stretch>
            <a:fillRect/>
          </a:stretch>
        </p:blipFill>
        <p:spPr>
          <a:xfrm>
            <a:off x="860489" y="1026367"/>
            <a:ext cx="3303037" cy="50385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C08B0962-1E75-BC73-D040-8631BFA25CA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60677" y="1026367"/>
                <a:ext cx="8122642" cy="467293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1" hangingPunct="1">
                  <a:lnSpc>
                    <a:spcPct val="140000"/>
                  </a:lnSpc>
                  <a:spcBef>
                    <a:spcPts val="1000"/>
                  </a:spcBef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76000" indent="-228600" algn="l" defTabSz="914400" rtl="0" eaLnBrk="1" latinLnBrk="1" hangingPunct="1">
                  <a:lnSpc>
                    <a:spcPct val="14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" altLang="ko-KR" sz="2000" b="1" dirty="0"/>
                  <a:t>Message composition</a:t>
                </a:r>
                <a:r>
                  <a:rPr lang="en-US" altLang="ko-KR" sz="2000" b="1" dirty="0"/>
                  <a:t>:</a:t>
                </a:r>
                <a:endParaRPr lang="en-US" altLang="ko-KR" sz="2000" b="1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𝝓</m:t>
                        </m:r>
                        <m:d>
                          <m:dPr>
                            <m:ctrlP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1" i="1" smtClean="0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lang="en-US" altLang="ko-KR" sz="2000" b="1" i="1" smtClean="0">
                                    <a:latin typeface="Cambria Math" panose="02040503050406030204" pitchFamily="18" charset="0"/>
                                  </a:rPr>
                                  <m:t>𝒊𝒋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  <m:d>
                          <m:dPr>
                            <m:ctrlP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altLang="ko-KR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ko-KR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1" i="1" smtClean="0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US" altLang="ko-KR" sz="2000" b="1" i="1" smtClean="0">
                                        <a:latin typeface="Cambria Math" panose="02040503050406030204" pitchFamily="18" charset="0"/>
                                      </a:rPr>
                                      <m:t>𝒊𝒋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e>
                    </m:d>
                  </m:oMath>
                </a14:m>
                <a:endParaRPr lang="en" altLang="ko-KR" sz="2000" b="1" dirty="0"/>
              </a:p>
              <a:p>
                <a:r>
                  <a:rPr lang="en" altLang="ko-KR" sz="2000" b="1" dirty="0"/>
                  <a:t>Message reverse:</a:t>
                </a:r>
                <a:endParaRPr lang="en-US" altLang="ko-KR" sz="2000" b="1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𝒋𝒊</m:t>
                        </m:r>
                      </m:sub>
                    </m:sSub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begChr m:val="{"/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𝝓</m:t>
                        </m:r>
                        <m:d>
                          <m:dPr>
                            <m:ctrlP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1" i="1" smtClean="0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lang="en-US" altLang="ko-KR" sz="2000" b="1" i="1" smtClean="0">
                                    <a:latin typeface="Cambria Math" panose="02040503050406030204" pitchFamily="18" charset="0"/>
                                  </a:rPr>
                                  <m:t>𝒊𝒋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  <m:d>
                          <m:dPr>
                            <m:ctrlP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altLang="ko-KR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ko-KR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1" i="1" smtClean="0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US" altLang="ko-KR" sz="2000" b="1" i="1" smtClean="0">
                                        <a:latin typeface="Cambria Math" panose="02040503050406030204" pitchFamily="18" charset="0"/>
                                      </a:rPr>
                                      <m:t>𝒊𝒋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e>
                    </m:d>
                  </m:oMath>
                </a14:m>
                <a:endParaRPr lang="en" altLang="ko-KR" sz="2000" b="1" dirty="0"/>
              </a:p>
              <a:p>
                <a:r>
                  <a:rPr lang="en" altLang="ko-KR" sz="2000" b="1" dirty="0"/>
                  <a:t>Spherical Harmonics parity</a:t>
                </a:r>
                <a:r>
                  <a:rPr lang="en-US" altLang="ko-KR" sz="2000" b="1" dirty="0"/>
                  <a:t>:</a:t>
                </a:r>
                <a:endParaRPr lang="en-US" altLang="ko-KR" sz="2000" b="1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𝒀</m:t>
                    </m:r>
                    <m:d>
                      <m:d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acc>
                      </m:e>
                    </m:d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𝒀</m:t>
                    </m:r>
                    <m:d>
                      <m:d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acc>
                      </m:e>
                    </m:d>
                  </m:oMath>
                </a14:m>
                <a:endParaRPr lang="en-US" altLang="ko-KR" sz="2000" b="1" dirty="0"/>
              </a:p>
              <a:p>
                <a:r>
                  <a:rPr lang="en" altLang="ko-KR" sz="2000" b="1" dirty="0">
                    <a:solidFill>
                      <a:schemeClr val="tx1">
                        <a:lumMod val="50000"/>
                      </a:schemeClr>
                    </a:solidFill>
                  </a:rPr>
                  <a:t>The inputs contain the same information; they differ only by an equivariant transformation.</a:t>
                </a:r>
              </a:p>
              <a:p>
                <a:pPr marL="0" indent="0">
                  <a:buNone/>
                </a:pPr>
                <a:r>
                  <a:rPr lang="en-US" altLang="ko-KR" sz="2000" b="1" dirty="0">
                    <a:solidFill>
                      <a:srgbClr val="C00000"/>
                    </a:solidFill>
                  </a:rPr>
                  <a:t>Enables instant reuse of pre-computed values through a sign flip</a:t>
                </a:r>
                <a:r>
                  <a:rPr lang="en-US" altLang="ko-KR" sz="2000" b="1" dirty="0">
                    <a:solidFill>
                      <a:schemeClr val="tx1">
                        <a:lumMod val="50000"/>
                      </a:schemeClr>
                    </a:solidFill>
                  </a:rPr>
                  <a:t>.</a:t>
                </a:r>
                <a:endParaRPr lang="en" altLang="ko-KR" sz="2000" b="1" dirty="0">
                  <a:solidFill>
                    <a:schemeClr val="tx1">
                      <a:lumMod val="50000"/>
                    </a:schemeClr>
                  </a:solidFill>
                </a:endParaRPr>
              </a:p>
              <a:p>
                <a:endParaRPr lang="en" altLang="ko-KR" sz="2000" b="1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C08B0962-1E75-BC73-D040-8631BFA25C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677" y="1026367"/>
                <a:ext cx="8122642" cy="4672930"/>
              </a:xfrm>
              <a:prstGeom prst="rect">
                <a:avLst/>
              </a:prstGeom>
              <a:blipFill>
                <a:blip r:embed="rId4"/>
                <a:stretch>
                  <a:fillRect l="-750" b="-93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4763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7CE092-F63F-6B45-042B-3095BBAB6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 Plan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7CFEBC-A9D6-A1D3-F9A9-D18E5D120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740" y="927088"/>
            <a:ext cx="11757660" cy="5473712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b="1" dirty="0"/>
              <a:t>Baselines</a:t>
            </a:r>
          </a:p>
          <a:p>
            <a:pPr lvl="1"/>
            <a:r>
              <a:rPr lang="en-US" altLang="ko-KR" b="1" dirty="0" err="1"/>
              <a:t>SevenNet</a:t>
            </a:r>
            <a:r>
              <a:rPr lang="en-US" altLang="ko-KR" b="1" dirty="0"/>
              <a:t> e3nn baseline / </a:t>
            </a:r>
            <a:r>
              <a:rPr lang="en-US" altLang="ko-KR" b="1" dirty="0" err="1"/>
              <a:t>SevenNet</a:t>
            </a:r>
            <a:r>
              <a:rPr lang="en-US" altLang="ko-KR" b="1" dirty="0"/>
              <a:t> + pair execution / </a:t>
            </a:r>
            <a:r>
              <a:rPr lang="en-US" altLang="ko-KR" b="1" dirty="0" err="1"/>
              <a:t>FlashTP</a:t>
            </a:r>
            <a:r>
              <a:rPr lang="en-US" altLang="ko-KR" b="1" dirty="0"/>
              <a:t> reference</a:t>
            </a:r>
          </a:p>
          <a:p>
            <a:r>
              <a:rPr lang="en-US" altLang="ko-KR" b="1" dirty="0"/>
              <a:t>Workloads</a:t>
            </a:r>
          </a:p>
          <a:p>
            <a:pPr lvl="1"/>
            <a:r>
              <a:rPr lang="en-US" altLang="ko-KR" b="1" dirty="0"/>
              <a:t>Small sparse</a:t>
            </a:r>
            <a:r>
              <a:rPr lang="ko-KR" altLang="en-US" b="1" dirty="0"/>
              <a:t> </a:t>
            </a:r>
            <a:r>
              <a:rPr lang="en-US" altLang="ko-KR" b="1" dirty="0"/>
              <a:t>:</a:t>
            </a:r>
            <a:r>
              <a:rPr lang="ko-KR" altLang="en-US" b="1" dirty="0"/>
              <a:t> </a:t>
            </a:r>
            <a:r>
              <a:rPr lang="en-US" altLang="ko-KR" b="1" dirty="0"/>
              <a:t>SPICE 2023, ANI-1x</a:t>
            </a:r>
          </a:p>
          <a:p>
            <a:pPr lvl="1"/>
            <a:r>
              <a:rPr lang="en-US" altLang="ko-KR" b="1" dirty="0"/>
              <a:t>Small dense : </a:t>
            </a:r>
            <a:r>
              <a:rPr lang="en-US" altLang="ko-KR" b="1" dirty="0" err="1"/>
              <a:t>pononDB</a:t>
            </a:r>
            <a:r>
              <a:rPr lang="en-US" altLang="ko-KR" b="1" dirty="0"/>
              <a:t>, selected periodic crystals</a:t>
            </a:r>
          </a:p>
          <a:p>
            <a:pPr lvl="1"/>
            <a:r>
              <a:rPr lang="en-US" altLang="ko-KR" b="1" dirty="0"/>
              <a:t>Large sparse :</a:t>
            </a:r>
            <a:r>
              <a:rPr lang="ko-KR" altLang="en-US" b="1" dirty="0"/>
              <a:t> </a:t>
            </a:r>
            <a:r>
              <a:rPr lang="en-US" altLang="ko-KR" b="1" dirty="0"/>
              <a:t>OMol25 validation, OC20 validation</a:t>
            </a:r>
          </a:p>
          <a:p>
            <a:pPr lvl="1"/>
            <a:r>
              <a:rPr lang="en-US" altLang="ko-KR" b="1" dirty="0"/>
              <a:t>Large dense : </a:t>
            </a:r>
            <a:r>
              <a:rPr lang="en-US" altLang="ko-KR" b="1" dirty="0" err="1"/>
              <a:t>MPtrj</a:t>
            </a:r>
            <a:r>
              <a:rPr lang="en-US" altLang="ko-KR" b="1" dirty="0"/>
              <a:t>, MD22 nanotube, OMat24</a:t>
            </a:r>
          </a:p>
          <a:p>
            <a:r>
              <a:rPr lang="en-US" altLang="ko-KR" b="1" dirty="0"/>
              <a:t>Evaluation Metrics</a:t>
            </a:r>
          </a:p>
          <a:p>
            <a:pPr lvl="1"/>
            <a:r>
              <a:rPr lang="en-US" altLang="ko-KR" sz="1800" b="1" dirty="0"/>
              <a:t>Energy-force exactness</a:t>
            </a:r>
          </a:p>
          <a:p>
            <a:pPr lvl="1"/>
            <a:r>
              <a:rPr lang="en-US" altLang="ko-KR" sz="1800" b="1" dirty="0"/>
              <a:t>Cold / steady latency + stage profiling + GPU utilization</a:t>
            </a:r>
          </a:p>
          <a:p>
            <a:pPr lvl="1"/>
            <a:r>
              <a:rPr lang="en-US" altLang="ko-KR" sz="1800" b="1" dirty="0"/>
              <a:t>Size-density analysis and quadrant comparison</a:t>
            </a:r>
          </a:p>
          <a:p>
            <a:r>
              <a:rPr lang="en-US" altLang="ko-KR" b="1" dirty="0"/>
              <a:t>Scope : single-GPU lab benchmark first, multi-GPU scaling next, Distributed HPC system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434D73-B3FA-AC1B-9263-FA0C8542B9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5CECA1-5C9B-4693-A1BD-3F65156FCD02}" type="slidenum">
              <a:rPr lang="ko-KR" altLang="en-US" smtClean="0"/>
              <a:pPr/>
              <a:t>13</a:t>
            </a:fld>
            <a:endParaRPr lang="ko-KR" altLang="en-US" sz="1250" dirty="0"/>
          </a:p>
        </p:txBody>
      </p:sp>
    </p:spTree>
    <p:extLst>
      <p:ext uri="{BB962C8B-B14F-4D97-AF65-F5344CB8AC3E}">
        <p14:creationId xmlns:p14="http://schemas.microsoft.com/office/powerpoint/2010/main" val="3714581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4770AA-612B-D63E-B067-9FCAACD31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Key Takeaways and Limitations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30D821-A0BB-F42F-0E6F-5916FF999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740" y="1092866"/>
            <a:ext cx="11757660" cy="5146052"/>
          </a:xfrm>
        </p:spPr>
        <p:txBody>
          <a:bodyPr>
            <a:normAutofit fontScale="92500"/>
          </a:bodyPr>
          <a:lstStyle/>
          <a:p>
            <a:r>
              <a:rPr kumimoji="1" lang="en-US" altLang="ko-KR" b="1" dirty="0"/>
              <a:t>Modern Spherical Harmonics Implementation</a:t>
            </a:r>
          </a:p>
          <a:p>
            <a:pPr lvl="1"/>
            <a:r>
              <a:rPr kumimoji="1" lang="en-US" altLang="ko-KR" sz="2000" b="1" dirty="0"/>
              <a:t>Uses fast Cartesian polynomials, so the win is not from replacing slow trigonometric code</a:t>
            </a:r>
          </a:p>
          <a:p>
            <a:r>
              <a:rPr kumimoji="1" lang="en-US" altLang="ko-KR" b="1" dirty="0"/>
              <a:t>Current Bottleneck</a:t>
            </a:r>
          </a:p>
          <a:p>
            <a:pPr lvl="1"/>
            <a:r>
              <a:rPr kumimoji="1" lang="en-US" altLang="ko-KR" sz="2000" b="1" dirty="0"/>
              <a:t>The real gain comes from removing duplicated geometry, SH, and pair-weight work on reverse edges</a:t>
            </a:r>
          </a:p>
          <a:p>
            <a:r>
              <a:rPr kumimoji="1" lang="en-US" altLang="ko-KR" b="1" dirty="0"/>
              <a:t>Current Limitation</a:t>
            </a:r>
          </a:p>
          <a:p>
            <a:pPr lvl="1"/>
            <a:r>
              <a:rPr kumimoji="1" lang="en-US" altLang="ko-KR" sz="2000" b="1" dirty="0"/>
              <a:t>TP and aggregation are still directed-edge operations, so the benefit is strongest only on large dense graphs.</a:t>
            </a:r>
          </a:p>
          <a:p>
            <a:r>
              <a:rPr kumimoji="1" lang="en-US" altLang="ko-KR" b="1" dirty="0"/>
              <a:t>Next Step</a:t>
            </a:r>
          </a:p>
          <a:p>
            <a:pPr lvl="1"/>
            <a:r>
              <a:rPr kumimoji="1" lang="en-US" altLang="ko-KR" sz="2000" b="1" dirty="0"/>
              <a:t>Pair-major TP plus backend co-design is required before claiming consistent end-to-end acceleration over </a:t>
            </a:r>
            <a:r>
              <a:rPr kumimoji="1" lang="en-US" altLang="ko-KR" sz="2000" b="1" dirty="0" err="1"/>
              <a:t>FlashTP</a:t>
            </a:r>
            <a:r>
              <a:rPr kumimoji="1" lang="en-US" altLang="ko-KR" sz="2000" b="1" dirty="0"/>
              <a:t>.</a:t>
            </a:r>
            <a:endParaRPr kumimoji="1" lang="ko-KR" altLang="en-US" sz="20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C71530-F5A5-E3EB-3764-86BB19605E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5CECA1-5C9B-4693-A1BD-3F65156FCD02}" type="slidenum">
              <a:rPr lang="ko-KR" altLang="en-US" smtClean="0"/>
              <a:pPr/>
              <a:t>14</a:t>
            </a:fld>
            <a:endParaRPr lang="ko-KR" altLang="en-US" sz="1250" dirty="0"/>
          </a:p>
        </p:txBody>
      </p:sp>
    </p:spTree>
    <p:extLst>
      <p:ext uri="{BB962C8B-B14F-4D97-AF65-F5344CB8AC3E}">
        <p14:creationId xmlns:p14="http://schemas.microsoft.com/office/powerpoint/2010/main" val="1654299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3">
      <a:dk1>
        <a:srgbClr val="3B3B3B"/>
      </a:dk1>
      <a:lt1>
        <a:sysClr val="window" lastClr="FFFFFF"/>
      </a:lt1>
      <a:dk2>
        <a:srgbClr val="2C2C2C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lato">
      <a:majorFont>
        <a:latin typeface="roboto"/>
        <a:ea typeface="roboto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889</TotalTime>
  <Words>4241</Words>
  <Application>Microsoft Macintosh PowerPoint</Application>
  <PresentationFormat>와이드스크린</PresentationFormat>
  <Paragraphs>267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3" baseType="lpstr">
      <vt:lpstr>Roboto Black</vt:lpstr>
      <vt:lpstr>맑은 고딕</vt:lpstr>
      <vt:lpstr>Wingdings</vt:lpstr>
      <vt:lpstr>lato</vt:lpstr>
      <vt:lpstr>roboto</vt:lpstr>
      <vt:lpstr>lato</vt:lpstr>
      <vt:lpstr>Arial</vt:lpstr>
      <vt:lpstr>Cambria Math</vt:lpstr>
      <vt:lpstr>Office 테마</vt:lpstr>
      <vt:lpstr>PowerPoint 프레젠테이션</vt:lpstr>
      <vt:lpstr>PowerPoint 프레젠테이션</vt:lpstr>
      <vt:lpstr>GNN-IP R&amp;D Proposal</vt:lpstr>
      <vt:lpstr>GNN-IP R&amp;D Proposal</vt:lpstr>
      <vt:lpstr>Equivariant Model Pipeline (NequIP) </vt:lpstr>
      <vt:lpstr>Problem</vt:lpstr>
      <vt:lpstr>Challenge</vt:lpstr>
      <vt:lpstr>Challenge</vt:lpstr>
      <vt:lpstr>Related Work</vt:lpstr>
      <vt:lpstr>Proposed Method</vt:lpstr>
      <vt:lpstr>Why focus on Spherical Harmonics reuse?</vt:lpstr>
      <vt:lpstr>Proposed Method</vt:lpstr>
      <vt:lpstr>Experiment Plan</vt:lpstr>
      <vt:lpstr>Key Takeaways and Limitations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김민창</dc:creator>
  <cp:keywords/>
  <dc:description/>
  <cp:lastModifiedBy>민창 김</cp:lastModifiedBy>
  <cp:revision>995</cp:revision>
  <dcterms:created xsi:type="dcterms:W3CDTF">2020-03-06T02:35:36Z</dcterms:created>
  <dcterms:modified xsi:type="dcterms:W3CDTF">2026-03-31T05:23:53Z</dcterms:modified>
  <cp:category/>
</cp:coreProperties>
</file>