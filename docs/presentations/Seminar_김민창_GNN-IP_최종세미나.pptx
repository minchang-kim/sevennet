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D48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1261872"/>
            <a:ext cx="80467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229"/>
                </a:solidFill>
              </a:defRPr>
            </a:pPr>
            <a:r>
              <a:t>GNN-IP Pair Execution</a:t>
            </a:r>
            <a:br/>
            <a:r>
              <a:t>랩 세미나 최종 발표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615184"/>
            <a:ext cx="8046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6370"/>
                </a:solidFill>
              </a:defRPr>
            </a:pPr>
            <a:r>
              <a:t>재사용 연산값 분류, equivariant 추론 파이프라인 이해, 관련 추론 최적화 연구, 그리고 SevenNet 기준 실험 결과와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828032"/>
            <a:ext cx="4892040" cy="713232"/>
          </a:xfrm>
          <a:prstGeom prst="roundRect">
            <a:avLst/>
          </a:prstGeom>
          <a:solidFill>
            <a:srgbClr val="EDDD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823116"/>
                </a:solidFill>
              </a:defRPr>
            </a:pPr>
            <a:r>
              <a:t>김민창 / DenseMLIP / 30 min seminar</a:t>
            </a:r>
          </a:p>
        </p:txBody>
      </p:sp>
      <p:pic>
        <p:nvPicPr>
          <p:cNvPr id="6" name="Picture 5" descr="SevenN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9184"/>
            <a:ext cx="1234440" cy="5115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6428232"/>
            <a:ext cx="11247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A6370"/>
                </a:solidFill>
              </a:rPr>
              <a:t>Lab Seminar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1498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2229"/>
                </a:solidFill>
              </a:defRPr>
            </a:pPr>
            <a:r>
              <a:t>오늘 발표 구성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87552"/>
            <a:ext cx="1078992" cy="64008"/>
          </a:xfrm>
          <a:prstGeom prst="rect">
            <a:avLst/>
          </a:prstGeom>
          <a:solidFill>
            <a:srgbClr val="BF4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74519" y="493776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370"/>
                </a:solidFill>
              </a:defRPr>
            </a:pPr>
            <a:r>
              <a:t>30분</a:t>
            </a:r>
          </a:p>
        </p:txBody>
      </p:sp>
      <p:pic>
        <p:nvPicPr>
          <p:cNvPr id="5" name="Picture 4" descr="SevenN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9184"/>
            <a:ext cx="1234440" cy="51150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1248" y="1508760"/>
            <a:ext cx="10149840" cy="768096"/>
          </a:xfrm>
          <a:prstGeom prst="round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609344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823116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581912"/>
            <a:ext cx="8412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C2229"/>
                </a:solidFill>
              </a:defRPr>
            </a:pPr>
            <a:r>
              <a:t>GNN-IP와 equivariant 추론 파이프라인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587752"/>
            <a:ext cx="10149840" cy="768096"/>
          </a:xfrm>
          <a:prstGeom prst="roundRect">
            <a:avLst/>
          </a:prstGeom>
          <a:solidFill>
            <a:srgbClr val="EDDD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688336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823116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660904"/>
            <a:ext cx="8412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C2229"/>
                </a:solidFill>
              </a:defRPr>
            </a:pPr>
            <a:r>
              <a:t>재사용 가능한 연산값의 분류와 구현 포인트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666744"/>
            <a:ext cx="10149840" cy="768096"/>
          </a:xfrm>
          <a:prstGeom prst="roundRect">
            <a:avLst/>
          </a:prstGeom>
          <a:solidFill>
            <a:srgbClr val="DAF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76732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823116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739896"/>
            <a:ext cx="8412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C2229"/>
                </a:solidFill>
              </a:defRPr>
            </a:pPr>
            <a:r>
              <a:t>연관 추론 최적화 연구와 현재 구현 위치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745736"/>
            <a:ext cx="10149840" cy="768096"/>
          </a:xfrm>
          <a:prstGeom prst="roundRect">
            <a:avLst/>
          </a:prstGeom>
          <a:solidFill>
            <a:srgbClr val="F7E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846320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823116"/>
                </a:solidFill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818888"/>
            <a:ext cx="8412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C2229"/>
                </a:solidFill>
              </a:defRPr>
            </a:pPr>
            <a:r>
              <a:t>실험 결과, profiling, discussion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28232"/>
            <a:ext cx="11247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A6370"/>
                </a:solidFill>
              </a:rPr>
              <a:t>Lab Seminar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1498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2229"/>
                </a:solidFill>
              </a:defRPr>
            </a:pPr>
            <a:r>
              <a:t>GNN-IP란 무엇인가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87552"/>
            <a:ext cx="1078992" cy="64008"/>
          </a:xfrm>
          <a:prstGeom prst="rect">
            <a:avLst/>
          </a:prstGeom>
          <a:solidFill>
            <a:srgbClr val="BF4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evenN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9184"/>
            <a:ext cx="1234440" cy="5115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1371600"/>
            <a:ext cx="10104120" cy="4526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C2229"/>
                </a:solidFill>
              </a:defRPr>
            </a:pPr>
            <a:r>
              <a:t>원자 구조를 그래프로 보고 total energy를 예측한 뒤 force와 stress를 gradient로 얻는 모델</a:t>
            </a:r>
          </a:p>
          <a:p>
            <a:pPr>
              <a:spcAft>
                <a:spcPts val="1000"/>
              </a:spcAft>
              <a:defRPr sz="2100">
                <a:solidFill>
                  <a:srgbClr val="1C2229"/>
                </a:solidFill>
              </a:defRPr>
            </a:pPr>
            <a:r>
              <a:t>핵심 입력은 원자 종류, 상대 위치, cutoff 안의 local neighborhood</a:t>
            </a:r>
          </a:p>
          <a:p>
            <a:pPr>
              <a:spcAft>
                <a:spcPts val="1000"/>
              </a:spcAft>
              <a:defRPr sz="2100">
                <a:solidFill>
                  <a:srgbClr val="1C2229"/>
                </a:solidFill>
              </a:defRPr>
            </a:pPr>
            <a:r>
              <a:t>에너지 자체는 rotation-invariant scalar이고, force는 위치 미분으로 나온다</a:t>
            </a:r>
          </a:p>
          <a:p>
            <a:pPr>
              <a:spcAft>
                <a:spcPts val="1000"/>
              </a:spcAft>
              <a:defRPr sz="2100">
                <a:solidFill>
                  <a:srgbClr val="1C2229"/>
                </a:solidFill>
              </a:defRPr>
            </a:pPr>
            <a:r>
              <a:t>따라서 intermediate representation은 equivariant하게 유지하는 것이 유리하다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5687568"/>
            <a:ext cx="10104120" cy="530352"/>
          </a:xfrm>
          <a:prstGeom prst="round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D4861"/>
                </a:solidFill>
              </a:defRPr>
            </a:pPr>
            <a:r>
              <a:t>이 슬라이드는 작업자 외 학생들을 위한 1-2장짜리 전체 설명 파트다.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28232"/>
            <a:ext cx="11247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A6370"/>
                </a:solidFill>
              </a:rPr>
              <a:t>Lab Seminar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1498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2229"/>
                </a:solidFill>
              </a:defRPr>
            </a:pPr>
            <a:r>
              <a:t>Equivariant GNN-IP 추론 파이프라인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87552"/>
            <a:ext cx="1078992" cy="64008"/>
          </a:xfrm>
          <a:prstGeom prst="rect">
            <a:avLst/>
          </a:prstGeom>
          <a:solidFill>
            <a:srgbClr val="BF4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evenN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9184"/>
            <a:ext cx="1234440" cy="51150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49808" y="2148840"/>
            <a:ext cx="1938528" cy="1051560"/>
          </a:xfrm>
          <a:prstGeom prst="roundRect">
            <a:avLst/>
          </a:prstGeom>
          <a:solidFill>
            <a:srgbClr val="DBE6EE"/>
          </a:solidFill>
          <a:ln>
            <a:solidFill>
              <a:srgbClr val="2D48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C2229"/>
                </a:solidFill>
              </a:defRPr>
            </a:pPr>
            <a:r>
              <a:t>Atoms / Cell / Neighbor list</a:t>
            </a:r>
          </a:p>
        </p:txBody>
      </p:sp>
      <p:sp>
        <p:nvSpPr>
          <p:cNvPr id="6" name="Chevron 5"/>
          <p:cNvSpPr/>
          <p:nvPr/>
        </p:nvSpPr>
        <p:spPr>
          <a:xfrm>
            <a:off x="2724912" y="2404872"/>
            <a:ext cx="201168" cy="420624"/>
          </a:xfrm>
          <a:prstGeom prst="chevron">
            <a:avLst/>
          </a:prstGeom>
          <a:solidFill>
            <a:srgbClr val="5A6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62656" y="2148840"/>
            <a:ext cx="1938528" cy="1051560"/>
          </a:xfrm>
          <a:prstGeom prst="roundRect">
            <a:avLst/>
          </a:prstGeom>
          <a:solidFill>
            <a:srgbClr val="EDDDD1"/>
          </a:solidFill>
          <a:ln>
            <a:solidFill>
              <a:srgbClr val="2D48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C2229"/>
                </a:solidFill>
              </a:defRPr>
            </a:pPr>
            <a:r>
              <a:t>Edge geometry</a:t>
            </a:r>
            <a:br/>
            <a:r>
              <a:t>(r, |r|, SH, basis)</a:t>
            </a:r>
          </a:p>
        </p:txBody>
      </p:sp>
      <p:sp>
        <p:nvSpPr>
          <p:cNvPr id="8" name="Chevron 7"/>
          <p:cNvSpPr/>
          <p:nvPr/>
        </p:nvSpPr>
        <p:spPr>
          <a:xfrm>
            <a:off x="4937759" y="2404872"/>
            <a:ext cx="201168" cy="420624"/>
          </a:xfrm>
          <a:prstGeom prst="chevron">
            <a:avLst/>
          </a:prstGeom>
          <a:solidFill>
            <a:srgbClr val="5A6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75504" y="2148840"/>
            <a:ext cx="1938528" cy="1051560"/>
          </a:xfrm>
          <a:prstGeom prst="roundRect">
            <a:avLst/>
          </a:prstGeom>
          <a:solidFill>
            <a:srgbClr val="DAF0E5"/>
          </a:solidFill>
          <a:ln>
            <a:solidFill>
              <a:srgbClr val="2D48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C2229"/>
                </a:solidFill>
              </a:defRPr>
            </a:pPr>
            <a:r>
              <a:t>Equivariant</a:t>
            </a:r>
            <a:br/>
            <a:r>
              <a:t>interaction blocks</a:t>
            </a:r>
          </a:p>
        </p:txBody>
      </p:sp>
      <p:sp>
        <p:nvSpPr>
          <p:cNvPr id="10" name="Chevron 9"/>
          <p:cNvSpPr/>
          <p:nvPr/>
        </p:nvSpPr>
        <p:spPr>
          <a:xfrm>
            <a:off x="7150608" y="2404872"/>
            <a:ext cx="201168" cy="420624"/>
          </a:xfrm>
          <a:prstGeom prst="chevron">
            <a:avLst/>
          </a:prstGeom>
          <a:solidFill>
            <a:srgbClr val="5A6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88352" y="2148840"/>
            <a:ext cx="1938528" cy="1051560"/>
          </a:xfrm>
          <a:prstGeom prst="roundRect">
            <a:avLst/>
          </a:prstGeom>
          <a:solidFill>
            <a:srgbClr val="F7ECCE"/>
          </a:solidFill>
          <a:ln>
            <a:solidFill>
              <a:srgbClr val="2D48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C2229"/>
                </a:solidFill>
              </a:defRPr>
            </a:pPr>
            <a:r>
              <a:t>Atomic energy</a:t>
            </a:r>
            <a:br/>
            <a:r>
              <a:t>readout</a:t>
            </a:r>
          </a:p>
        </p:txBody>
      </p:sp>
      <p:sp>
        <p:nvSpPr>
          <p:cNvPr id="12" name="Chevron 11"/>
          <p:cNvSpPr/>
          <p:nvPr/>
        </p:nvSpPr>
        <p:spPr>
          <a:xfrm>
            <a:off x="9363455" y="2404872"/>
            <a:ext cx="201168" cy="420624"/>
          </a:xfrm>
          <a:prstGeom prst="chevron">
            <a:avLst/>
          </a:prstGeom>
          <a:solidFill>
            <a:srgbClr val="5A6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01200" y="2148840"/>
            <a:ext cx="1938528" cy="1051560"/>
          </a:xfrm>
          <a:prstGeom prst="roundRect">
            <a:avLst/>
          </a:prstGeom>
          <a:solidFill>
            <a:srgbClr val="DBE6EE"/>
          </a:solidFill>
          <a:ln>
            <a:solidFill>
              <a:srgbClr val="2D48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C2229"/>
                </a:solidFill>
              </a:defRPr>
            </a:pPr>
            <a:r>
              <a:t>Force / Stress</a:t>
            </a:r>
            <a:br/>
            <a:r>
              <a:t>via gradient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160520"/>
            <a:ext cx="9966960" cy="1188720"/>
          </a:xfrm>
          <a:prstGeom prst="roundRect">
            <a:avLst/>
          </a:prstGeom>
          <a:solidFill>
            <a:srgbClr val="EDDD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C2229"/>
                </a:solidFill>
              </a:defRPr>
            </a:pPr>
            <a:r>
              <a:t>핵심 포인트: energy는 node-level scalar readout이지만, 그 전에 대부분의 비용은 edge geometry 생성과 equivariant interaction block에 들어간다.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28232"/>
            <a:ext cx="11247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A6370"/>
                </a:solidFill>
              </a:rPr>
              <a:t>Lab Seminar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1498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2229"/>
                </a:solidFill>
              </a:defRPr>
            </a:pPr>
            <a:r>
              <a:t>재사용 가능한 연산값의 분류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87552"/>
            <a:ext cx="1078992" cy="64008"/>
          </a:xfrm>
          <a:prstGeom prst="rect">
            <a:avLst/>
          </a:prstGeom>
          <a:solidFill>
            <a:srgbClr val="BF4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evenN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9184"/>
            <a:ext cx="1234440" cy="51150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41248" y="1463040"/>
            <a:ext cx="4892040" cy="1691640"/>
          </a:xfrm>
          <a:prstGeom prst="roundRect">
            <a:avLst/>
          </a:prstGeom>
          <a:solidFill>
            <a:srgbClr val="DBE6EE"/>
          </a:solidFill>
          <a:ln>
            <a:solidFill>
              <a:srgbClr val="2D48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7276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C2229"/>
                </a:solidFill>
              </a:defRPr>
            </a:pPr>
            <a:r>
              <a:t>Pair-shared geometry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" y="1965960"/>
            <a:ext cx="43891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C2229"/>
                </a:solidFill>
              </a:defRPr>
            </a:pPr>
            <a:r>
              <a:t>distance |r|</a:t>
            </a:r>
          </a:p>
          <a:p>
            <a:pPr>
              <a:spcAft>
                <a:spcPts val="1000"/>
              </a:spcAft>
              <a:defRPr sz="1700">
                <a:solidFill>
                  <a:srgbClr val="1C2229"/>
                </a:solidFill>
              </a:defRPr>
            </a:pPr>
            <a:r>
              <a:t>radial basis</a:t>
            </a:r>
          </a:p>
          <a:p>
            <a:pPr>
              <a:spcAft>
                <a:spcPts val="1000"/>
              </a:spcAft>
              <a:defRPr sz="1700">
                <a:solidFill>
                  <a:srgbClr val="1C2229"/>
                </a:solidFill>
              </a:defRPr>
            </a:pPr>
            <a:r>
              <a:t>cutoff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463040"/>
            <a:ext cx="4892040" cy="1691640"/>
          </a:xfrm>
          <a:prstGeom prst="roundRect">
            <a:avLst/>
          </a:prstGeom>
          <a:solidFill>
            <a:srgbClr val="EDDDD1"/>
          </a:solidFill>
          <a:ln>
            <a:solidFill>
              <a:srgbClr val="2D48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45352" y="157276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C2229"/>
                </a:solidFill>
              </a:defRPr>
            </a:pPr>
            <a:r>
              <a:t>Parity-recoverable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0216" y="1965960"/>
            <a:ext cx="43891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C2229"/>
                </a:solidFill>
              </a:defRPr>
            </a:pPr>
            <a:r>
              <a:t>reverse SH via (-1)^l</a:t>
            </a:r>
          </a:p>
          <a:p>
            <a:pPr>
              <a:spcAft>
                <a:spcPts val="1000"/>
              </a:spcAft>
              <a:defRPr sz="1700">
                <a:solidFill>
                  <a:srgbClr val="1C2229"/>
                </a:solidFill>
              </a:defRPr>
            </a:pPr>
            <a:r>
              <a:t>canonical pair direction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3657600"/>
            <a:ext cx="4892040" cy="1691640"/>
          </a:xfrm>
          <a:prstGeom prst="roundRect">
            <a:avLst/>
          </a:prstGeom>
          <a:solidFill>
            <a:srgbClr val="DAF0E5"/>
          </a:solidFill>
          <a:ln>
            <a:solidFill>
              <a:srgbClr val="2D48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7673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C2229"/>
                </a:solidFill>
              </a:defRPr>
            </a:pPr>
            <a:r>
              <a:t>Direction-specific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" y="4160520"/>
            <a:ext cx="43891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C2229"/>
                </a:solidFill>
              </a:defRPr>
            </a:pPr>
            <a:r>
              <a:t>source feature x_i / x_j</a:t>
            </a:r>
          </a:p>
          <a:p>
            <a:pPr>
              <a:spcAft>
                <a:spcPts val="1000"/>
              </a:spcAft>
              <a:defRPr sz="1700">
                <a:solidFill>
                  <a:srgbClr val="1C2229"/>
                </a:solidFill>
              </a:defRPr>
            </a:pPr>
            <a:r>
              <a:t>final message TP output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3657600"/>
            <a:ext cx="4892040" cy="1691640"/>
          </a:xfrm>
          <a:prstGeom prst="roundRect">
            <a:avLst/>
          </a:prstGeom>
          <a:solidFill>
            <a:srgbClr val="F7ECCE"/>
          </a:solidFill>
          <a:ln>
            <a:solidFill>
              <a:srgbClr val="2D48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37673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C2229"/>
                </a:solidFill>
              </a:defRPr>
            </a:pPr>
            <a:r>
              <a:t>Node / global outputs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4160520"/>
            <a:ext cx="43891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C2229"/>
                </a:solidFill>
              </a:defRPr>
            </a:pPr>
            <a:r>
              <a:t>aggregation</a:t>
            </a:r>
          </a:p>
          <a:p>
            <a:pPr>
              <a:spcAft>
                <a:spcPts val="1000"/>
              </a:spcAft>
              <a:defRPr sz="1700">
                <a:solidFill>
                  <a:srgbClr val="1C2229"/>
                </a:solidFill>
              </a:defRPr>
            </a:pPr>
            <a:r>
              <a:t>atomic energy</a:t>
            </a:r>
          </a:p>
          <a:p>
            <a:pPr>
              <a:spcAft>
                <a:spcPts val="1000"/>
              </a:spcAft>
              <a:defRPr sz="1700">
                <a:solidFill>
                  <a:srgbClr val="1C2229"/>
                </a:solidFill>
              </a:defRPr>
            </a:pPr>
            <a:r>
              <a:t>force / stress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742432"/>
            <a:ext cx="9966960" cy="402336"/>
          </a:xfrm>
          <a:prstGeom prst="roundRect">
            <a:avLst/>
          </a:prstGeom>
          <a:solidFill>
            <a:srgbClr val="EDDD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823116"/>
                </a:solidFill>
              </a:defRPr>
            </a:pPr>
            <a:r>
              <a:t>이 분류가 있어야 “무엇을 exact하게 줄일 수 있고, 무엇은 줄일 수 없는가”를 구분할 수 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28232"/>
            <a:ext cx="11247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A6370"/>
                </a:solidFill>
              </a:rPr>
              <a:t>Lab Seminar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1498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2229"/>
                </a:solidFill>
              </a:defRPr>
            </a:pPr>
            <a:r>
              <a:t>SevenNet 현재 구현과 목표 구조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87552"/>
            <a:ext cx="1078992" cy="64008"/>
          </a:xfrm>
          <a:prstGeom prst="rect">
            <a:avLst/>
          </a:prstGeom>
          <a:solidFill>
            <a:srgbClr val="BF4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evenN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9184"/>
            <a:ext cx="1234440" cy="51150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" y="1417320"/>
            <a:ext cx="4681728" cy="4343400"/>
          </a:xfrm>
          <a:prstGeom prst="roundRect">
            <a:avLst/>
          </a:prstGeom>
          <a:solidFill>
            <a:srgbClr val="DBE6EE"/>
          </a:solidFill>
          <a:ln>
            <a:solidFill>
              <a:srgbClr val="2D48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1572768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C2229"/>
                </a:solidFill>
              </a:defRPr>
            </a:pPr>
            <a:r>
              <a:t>현재 구현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2416" y="2148840"/>
            <a:ext cx="4078224" cy="438912"/>
          </a:xfrm>
          <a:prstGeom prst="roundRect">
            <a:avLst/>
          </a:prstGeom>
          <a:solidFill>
            <a:srgbClr val="F8F6F0"/>
          </a:solidFill>
          <a:ln>
            <a:solidFill>
              <a:srgbClr val="5A6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C2229"/>
                </a:solidFill>
              </a:defRPr>
            </a:pPr>
            <a:r>
              <a:t>pair metadata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2416" y="2807208"/>
            <a:ext cx="4078224" cy="438912"/>
          </a:xfrm>
          <a:prstGeom prst="roundRect">
            <a:avLst/>
          </a:prstGeom>
          <a:solidFill>
            <a:srgbClr val="F8F6F0"/>
          </a:solidFill>
          <a:ln>
            <a:solidFill>
              <a:srgbClr val="5A6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C2229"/>
                </a:solidFill>
              </a:defRPr>
            </a:pPr>
            <a:r>
              <a:t>geometry / SH 일부 재사용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2416" y="3465576"/>
            <a:ext cx="4078224" cy="438912"/>
          </a:xfrm>
          <a:prstGeom prst="roundRect">
            <a:avLst/>
          </a:prstGeom>
          <a:solidFill>
            <a:srgbClr val="F8F6F0"/>
          </a:solidFill>
          <a:ln>
            <a:solidFill>
              <a:srgbClr val="5A6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C2229"/>
                </a:solidFill>
              </a:defRPr>
            </a:pPr>
            <a:r>
              <a:t>weight_nn 일부 재사용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2416" y="4123944"/>
            <a:ext cx="4078224" cy="438912"/>
          </a:xfrm>
          <a:prstGeom prst="roundRect">
            <a:avLst/>
          </a:prstGeom>
          <a:solidFill>
            <a:srgbClr val="F8F6F0"/>
          </a:solidFill>
          <a:ln>
            <a:solidFill>
              <a:srgbClr val="5A6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C2229"/>
                </a:solidFill>
              </a:defRPr>
            </a:pPr>
            <a:r>
              <a:t>directed TP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2416" y="4782312"/>
            <a:ext cx="4078224" cy="438912"/>
          </a:xfrm>
          <a:prstGeom prst="roundRect">
            <a:avLst/>
          </a:prstGeom>
          <a:solidFill>
            <a:srgbClr val="F8F6F0"/>
          </a:solidFill>
          <a:ln>
            <a:solidFill>
              <a:srgbClr val="5A6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C2229"/>
                </a:solidFill>
              </a:defRPr>
            </a:pPr>
            <a:r>
              <a:t>node aggregation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5285232"/>
            <a:ext cx="4206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370"/>
                </a:solidFill>
              </a:defRPr>
            </a:pPr>
            <a:r>
              <a:t>현재는 pair-aware reuse이지, pair-major TP는 아니다.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1417320"/>
            <a:ext cx="4681728" cy="4343400"/>
          </a:xfrm>
          <a:prstGeom prst="roundRect">
            <a:avLst/>
          </a:prstGeom>
          <a:solidFill>
            <a:srgbClr val="EDDDD1"/>
          </a:solidFill>
          <a:ln>
            <a:solidFill>
              <a:srgbClr val="2D48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1572768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C2229"/>
                </a:solidFill>
              </a:defRPr>
            </a:pPr>
            <a:r>
              <a:t>목표 구조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148840"/>
            <a:ext cx="4078224" cy="438912"/>
          </a:xfrm>
          <a:prstGeom prst="roundRect">
            <a:avLst/>
          </a:prstGeom>
          <a:solidFill>
            <a:srgbClr val="F8F6F0"/>
          </a:solidFill>
          <a:ln>
            <a:solidFill>
              <a:srgbClr val="5A6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C2229"/>
                </a:solidFill>
              </a:defRPr>
            </a:pPr>
            <a:r>
              <a:t>pair metadata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807208"/>
            <a:ext cx="4078224" cy="438912"/>
          </a:xfrm>
          <a:prstGeom prst="roundRect">
            <a:avLst/>
          </a:prstGeom>
          <a:solidFill>
            <a:srgbClr val="F8F6F0"/>
          </a:solidFill>
          <a:ln>
            <a:solidFill>
              <a:srgbClr val="5A6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C2229"/>
                </a:solidFill>
              </a:defRPr>
            </a:pPr>
            <a:r>
              <a:t>pair-major geometry 유지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465576"/>
            <a:ext cx="4078224" cy="438912"/>
          </a:xfrm>
          <a:prstGeom prst="roundRect">
            <a:avLst/>
          </a:prstGeom>
          <a:solidFill>
            <a:srgbClr val="F8F6F0"/>
          </a:solidFill>
          <a:ln>
            <a:solidFill>
              <a:srgbClr val="5A6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C2229"/>
                </a:solidFill>
              </a:defRPr>
            </a:pPr>
            <a:r>
              <a:t>pair-major TP or delayed expansion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123944"/>
            <a:ext cx="4078224" cy="438912"/>
          </a:xfrm>
          <a:prstGeom prst="roundRect">
            <a:avLst/>
          </a:prstGeom>
          <a:solidFill>
            <a:srgbClr val="F8F6F0"/>
          </a:solidFill>
          <a:ln>
            <a:solidFill>
              <a:srgbClr val="5A6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C2229"/>
                </a:solidFill>
              </a:defRPr>
            </a:pPr>
            <a:r>
              <a:t>backend-aware reduction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782312"/>
            <a:ext cx="4078224" cy="438912"/>
          </a:xfrm>
          <a:prstGeom prst="roundRect">
            <a:avLst/>
          </a:prstGeom>
          <a:solidFill>
            <a:srgbClr val="F8F6F0"/>
          </a:solidFill>
          <a:ln>
            <a:solidFill>
              <a:srgbClr val="5A6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C2229"/>
                </a:solidFill>
              </a:defRPr>
            </a:pPr>
            <a:r>
              <a:t>runtime policy selection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5285232"/>
            <a:ext cx="4206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370"/>
                </a:solidFill>
              </a:defRPr>
            </a:pPr>
            <a:r>
              <a:t>핵심은 pair layout을 끝까지 유지하는 것이다.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428232"/>
            <a:ext cx="11247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A6370"/>
                </a:solidFill>
              </a:rPr>
              <a:t>Lab Seminar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1498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2229"/>
                </a:solidFill>
              </a:defRPr>
            </a:pPr>
            <a:r>
              <a:t>연관 추론 최적화 연구: 이 발표에 필요한 부분만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87552"/>
            <a:ext cx="1078992" cy="64008"/>
          </a:xfrm>
          <a:prstGeom prst="rect">
            <a:avLst/>
          </a:prstGeom>
          <a:solidFill>
            <a:srgbClr val="BF4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evenN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9184"/>
            <a:ext cx="1234440" cy="51150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41248" y="1737360"/>
            <a:ext cx="2926080" cy="3154680"/>
          </a:xfrm>
          <a:prstGeom prst="roundRect">
            <a:avLst/>
          </a:prstGeom>
          <a:solidFill>
            <a:srgbClr val="DBE6EE"/>
          </a:solidFill>
          <a:ln>
            <a:solidFill>
              <a:srgbClr val="2D48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01952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C2229"/>
                </a:solidFill>
              </a:defRPr>
            </a:pPr>
            <a:r>
              <a:t>Backend fusion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450592"/>
            <a:ext cx="2514600" cy="2011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C2229"/>
                </a:solidFill>
              </a:defRPr>
            </a:pPr>
            <a:r>
              <a:t>FlashTP</a:t>
            </a:r>
          </a:p>
          <a:p>
            <a:pPr>
              <a:spcAft>
                <a:spcPts val="1000"/>
              </a:spcAft>
              <a:defRPr sz="1700">
                <a:solidFill>
                  <a:srgbClr val="1C2229"/>
                </a:solidFill>
              </a:defRPr>
            </a:pPr>
            <a:r>
              <a:t>cuEquivariance / OEQ</a:t>
            </a:r>
          </a:p>
          <a:p>
            <a:pPr>
              <a:spcAft>
                <a:spcPts val="1000"/>
              </a:spcAft>
              <a:defRPr sz="1700">
                <a:solidFill>
                  <a:srgbClr val="1C2229"/>
                </a:solidFill>
              </a:defRPr>
            </a:pPr>
            <a:r>
              <a:t>TP kernel optimization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0" y="1737360"/>
            <a:ext cx="2926080" cy="3154680"/>
          </a:xfrm>
          <a:prstGeom prst="roundRect">
            <a:avLst/>
          </a:prstGeom>
          <a:solidFill>
            <a:srgbClr val="EDDDD1"/>
          </a:solidFill>
          <a:ln>
            <a:solidFill>
              <a:srgbClr val="2D48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7952" y="1901952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C2229"/>
                </a:solidFill>
              </a:defRPr>
            </a:pPr>
            <a:r>
              <a:t>Runtime / 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450592"/>
            <a:ext cx="2514600" cy="2011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C2229"/>
                </a:solidFill>
              </a:defRPr>
            </a:pPr>
            <a:r>
              <a:t>neighbor cache</a:t>
            </a:r>
          </a:p>
          <a:p>
            <a:pPr>
              <a:spcAft>
                <a:spcPts val="1000"/>
              </a:spcAft>
              <a:defRPr sz="1700">
                <a:solidFill>
                  <a:srgbClr val="1C2229"/>
                </a:solidFill>
              </a:defRPr>
            </a:pPr>
            <a:r>
              <a:t>graph layout</a:t>
            </a:r>
          </a:p>
          <a:p>
            <a:pPr>
              <a:spcAft>
                <a:spcPts val="1000"/>
              </a:spcAft>
              <a:defRPr sz="1700">
                <a:solidFill>
                  <a:srgbClr val="1C2229"/>
                </a:solidFill>
              </a:defRPr>
            </a:pPr>
            <a:r>
              <a:t>batching / memory traffic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05472" y="1737360"/>
            <a:ext cx="2926080" cy="3154680"/>
          </a:xfrm>
          <a:prstGeom prst="roundRect">
            <a:avLst/>
          </a:prstGeom>
          <a:solidFill>
            <a:srgbClr val="DAF0E5"/>
          </a:solidFill>
          <a:ln>
            <a:solidFill>
              <a:srgbClr val="2D48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70064" y="1901952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C2229"/>
                </a:solidFill>
              </a:defRPr>
            </a:pPr>
            <a:r>
              <a:t>System / distributed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88352" y="2450592"/>
            <a:ext cx="2514600" cy="2011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C2229"/>
                </a:solidFill>
              </a:defRPr>
            </a:pPr>
            <a:r>
              <a:t>ghost communication</a:t>
            </a:r>
          </a:p>
          <a:p>
            <a:pPr>
              <a:spcAft>
                <a:spcPts val="1000"/>
              </a:spcAft>
              <a:defRPr sz="1700">
                <a:solidFill>
                  <a:srgbClr val="1C2229"/>
                </a:solidFill>
              </a:defRPr>
            </a:pPr>
            <a:r>
              <a:t>schedule</a:t>
            </a:r>
          </a:p>
          <a:p>
            <a:pPr>
              <a:spcAft>
                <a:spcPts val="1000"/>
              </a:spcAft>
              <a:defRPr sz="1700">
                <a:solidFill>
                  <a:srgbClr val="1C2229"/>
                </a:solidFill>
              </a:defRPr>
            </a:pPr>
            <a:r>
              <a:t>runtime policy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A6370"/>
                </a:solidFill>
              </a:defRPr>
            </a:pPr>
            <a:r>
              <a:t>이번 발표는 커널 최적화 자체보다, pair-aware runtime과 backend co-design이 어디에 들어가는지를 설명하는 데 초점을 둔다.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28232"/>
            <a:ext cx="11247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A6370"/>
                </a:solidFill>
              </a:rPr>
              <a:t>Lab Seminar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1498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2229"/>
                </a:solidFill>
              </a:defRPr>
            </a:pPr>
            <a:r>
              <a:t>실험 질문과 평가 프로토콜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87552"/>
            <a:ext cx="1078992" cy="64008"/>
          </a:xfrm>
          <a:prstGeom prst="rect">
            <a:avLst/>
          </a:prstGeom>
          <a:solidFill>
            <a:srgbClr val="BF4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evenN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9184"/>
            <a:ext cx="1234440" cy="5115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1371600"/>
            <a:ext cx="10104120" cy="4526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C2229"/>
                </a:solidFill>
              </a:defRPr>
            </a:pPr>
            <a:r>
              <a:t>질문 1: 어떤 그래프에서 pair execution이 실제로 이득인가?</a:t>
            </a:r>
          </a:p>
          <a:p>
            <a:pPr>
              <a:spcAft>
                <a:spcPts val="1000"/>
              </a:spcAft>
              <a:defRPr sz="2100">
                <a:solidFill>
                  <a:srgbClr val="1C2229"/>
                </a:solidFill>
              </a:defRPr>
            </a:pPr>
            <a:r>
              <a:t>질문 2: 재사용되는 연산은 전체 시간에서 얼마나 큰 비중인가?</a:t>
            </a:r>
          </a:p>
          <a:p>
            <a:pPr>
              <a:spcAft>
                <a:spcPts val="1000"/>
              </a:spcAft>
              <a:defRPr sz="2100">
                <a:solidFill>
                  <a:srgbClr val="1C2229"/>
                </a:solidFill>
              </a:defRPr>
            </a:pPr>
            <a:r>
              <a:t>질문 3: 현재 구현은 exact pair-major execution과 무엇이 다른가?</a:t>
            </a:r>
          </a:p>
          <a:p>
            <a:pPr>
              <a:spcAft>
                <a:spcPts val="1000"/>
              </a:spcAft>
              <a:defRPr sz="2100">
                <a:solidFill>
                  <a:srgbClr val="1C2229"/>
                </a:solidFill>
              </a:defRPr>
            </a:pPr>
            <a:r>
              <a:t>환경: SevenNet / 7net-omni / single-GPU lab benchmark + public real dataset evaluation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5687568"/>
            <a:ext cx="10104120" cy="530352"/>
          </a:xfrm>
          <a:prstGeom prst="round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D4861"/>
                </a:solidFill>
              </a:defRPr>
            </a:pPr>
            <a:r>
              <a:t>속도, speedup, profiling, GPU utilization, size-density를 같이 봤다.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28232"/>
            <a:ext cx="11247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A6370"/>
                </a:solidFill>
              </a:rPr>
              <a:t>Lab Seminar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1498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2229"/>
                </a:solidFill>
              </a:defRPr>
            </a:pPr>
            <a:r>
              <a:t>데이터셋 size-density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87552"/>
            <a:ext cx="1078992" cy="64008"/>
          </a:xfrm>
          <a:prstGeom prst="rect">
            <a:avLst/>
          </a:prstGeom>
          <a:solidFill>
            <a:srgbClr val="BF4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evenN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9184"/>
            <a:ext cx="1234440" cy="511508"/>
          </a:xfrm>
          <a:prstGeom prst="rect">
            <a:avLst/>
          </a:prstGeom>
        </p:spPr>
      </p:pic>
      <p:pic>
        <p:nvPicPr>
          <p:cNvPr id="5" name="Picture 4" descr="quadrant_dataset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325880"/>
            <a:ext cx="5120640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79" y="1600200"/>
            <a:ext cx="3657600" cy="4206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C2229"/>
                </a:solidFill>
              </a:defRPr>
            </a:pPr>
            <a:r>
              <a:t>x축: 대표 샘플 directed edges</a:t>
            </a:r>
          </a:p>
          <a:p>
            <a:pPr>
              <a:spcAft>
                <a:spcPts val="1000"/>
              </a:spcAft>
              <a:defRPr sz="1800">
                <a:solidFill>
                  <a:srgbClr val="1C2229"/>
                </a:solidFill>
              </a:defRPr>
            </a:pPr>
            <a:r>
              <a:t>y축: 평균 directed neighbors</a:t>
            </a:r>
          </a:p>
          <a:p>
            <a:pPr>
              <a:spcAft>
                <a:spcPts val="1000"/>
              </a:spcAft>
              <a:defRPr sz="1800">
                <a:solidFill>
                  <a:srgbClr val="1C2229"/>
                </a:solidFill>
              </a:defRPr>
            </a:pPr>
            <a:r>
              <a:t>threshold: large = edges &gt;= 3000, dense = avg neighbors &gt;= 40</a:t>
            </a:r>
          </a:p>
          <a:p>
            <a:pPr>
              <a:spcAft>
                <a:spcPts val="1000"/>
              </a:spcAft>
              <a:defRPr sz="1800">
                <a:solidFill>
                  <a:srgbClr val="1C2229"/>
                </a:solidFill>
              </a:defRPr>
            </a:pPr>
            <a:r>
              <a:t>발표용으로 네 구역 representative를 명시해 비교했다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28232"/>
            <a:ext cx="11247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A6370"/>
                </a:solidFill>
              </a:rPr>
              <a:t>Lab Seminar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1498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2229"/>
                </a:solidFill>
              </a:defRPr>
            </a:pPr>
            <a:r>
              <a:t>네 구역 대표 비교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87552"/>
            <a:ext cx="1078992" cy="64008"/>
          </a:xfrm>
          <a:prstGeom prst="rect">
            <a:avLst/>
          </a:prstGeom>
          <a:solidFill>
            <a:srgbClr val="BF4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evenN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9184"/>
            <a:ext cx="1234440" cy="5115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6112" y="1170432"/>
            <a:ext cx="4754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C2229"/>
                </a:solidFill>
              </a:defRPr>
            </a:pPr>
            <a:r>
              <a:t>Latency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6208" y="1170432"/>
            <a:ext cx="4754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C2229"/>
                </a:solidFill>
              </a:defRPr>
            </a:pPr>
            <a:r>
              <a:t>Speedup comparison</a:t>
            </a:r>
          </a:p>
        </p:txBody>
      </p:sp>
      <p:pic>
        <p:nvPicPr>
          <p:cNvPr id="7" name="Picture 6" descr="quadrant_latency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481328"/>
            <a:ext cx="4983480" cy="4526280"/>
          </a:xfrm>
          <a:prstGeom prst="rect">
            <a:avLst/>
          </a:prstGeom>
        </p:spPr>
      </p:pic>
      <p:pic>
        <p:nvPicPr>
          <p:cNvPr id="8" name="Picture 7" descr="quadrant_speedup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1481328"/>
            <a:ext cx="4983480" cy="4526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6428232"/>
            <a:ext cx="11247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A6370"/>
                </a:solidFill>
              </a:rPr>
              <a:t>Lab Seminar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1498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2229"/>
                </a:solidFill>
              </a:defRPr>
            </a:pPr>
            <a:r>
              <a:t>Quadrant 결과의 핵심 해석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87552"/>
            <a:ext cx="1078992" cy="64008"/>
          </a:xfrm>
          <a:prstGeom prst="rect">
            <a:avLst/>
          </a:prstGeom>
          <a:solidFill>
            <a:srgbClr val="BF4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evenN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9184"/>
            <a:ext cx="1234440" cy="511508"/>
          </a:xfrm>
          <a:prstGeom prst="rect">
            <a:avLst/>
          </a:prstGeom>
        </p:spPr>
      </p:pic>
      <p:pic>
        <p:nvPicPr>
          <p:cNvPr id="5" name="Picture 4" descr="quadrant_mechanism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325880"/>
            <a:ext cx="5120640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1600200"/>
            <a:ext cx="3657600" cy="4206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C2229"/>
                </a:solidFill>
              </a:defRPr>
            </a:pPr>
            <a:r>
              <a:t>small sparse: SPICE 2023, 0.743x</a:t>
            </a:r>
          </a:p>
          <a:p>
            <a:pPr>
              <a:spcAft>
                <a:spcPts val="1000"/>
              </a:spcAft>
              <a:defRPr sz="1800">
                <a:solidFill>
                  <a:srgbClr val="1C2229"/>
                </a:solidFill>
              </a:defRPr>
            </a:pPr>
            <a:r>
              <a:t>small dense: phononDB, 1.105x</a:t>
            </a:r>
          </a:p>
          <a:p>
            <a:pPr>
              <a:spcAft>
                <a:spcPts val="1000"/>
              </a:spcAft>
              <a:defRPr sz="1800">
                <a:solidFill>
                  <a:srgbClr val="1C2229"/>
                </a:solidFill>
              </a:defRPr>
            </a:pPr>
            <a:r>
              <a:t>large sparse: OMol25 validation, 1.126x</a:t>
            </a:r>
          </a:p>
          <a:p>
            <a:pPr>
              <a:spcAft>
                <a:spcPts val="1000"/>
              </a:spcAft>
              <a:defRPr sz="1800">
                <a:solidFill>
                  <a:srgbClr val="1C2229"/>
                </a:solidFill>
              </a:defRPr>
            </a:pPr>
            <a:r>
              <a:t>large dense: MPtrj validation, 1.669x</a:t>
            </a:r>
          </a:p>
          <a:p>
            <a:pPr>
              <a:spcAft>
                <a:spcPts val="1000"/>
              </a:spcAft>
              <a:defRPr sz="1800">
                <a:solidFill>
                  <a:srgbClr val="1C2229"/>
                </a:solidFill>
              </a:defRPr>
            </a:pPr>
            <a:r>
              <a:t>즉 atom 수 단독이 아니라 edge load와 density 조합이 핵심이다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28232"/>
            <a:ext cx="11247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A6370"/>
                </a:solidFill>
              </a:rPr>
              <a:t>Lab Seminar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1498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2229"/>
                </a:solidFill>
              </a:defRPr>
            </a:pPr>
            <a:r>
              <a:t>Baseline 상세 프로파일: extreme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87552"/>
            <a:ext cx="1078992" cy="64008"/>
          </a:xfrm>
          <a:prstGeom prst="rect">
            <a:avLst/>
          </a:prstGeom>
          <a:solidFill>
            <a:srgbClr val="BF4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evenN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9184"/>
            <a:ext cx="1234440" cy="511508"/>
          </a:xfrm>
          <a:prstGeom prst="rect">
            <a:avLst/>
          </a:prstGeom>
        </p:spPr>
      </p:pic>
      <p:pic>
        <p:nvPicPr>
          <p:cNvPr id="5" name="Picture 4" descr="extreme_stage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325880"/>
            <a:ext cx="5120640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79" y="1600200"/>
            <a:ext cx="3657600" cy="4206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C2229"/>
                </a:solidFill>
              </a:defRPr>
            </a:pPr>
            <a:r>
              <a:t>small sparse baseline은 TP와 force_output 비중이 크다</a:t>
            </a:r>
          </a:p>
          <a:p>
            <a:pPr>
              <a:spcAft>
                <a:spcPts val="1000"/>
              </a:spcAft>
              <a:defRPr sz="1800">
                <a:solidFill>
                  <a:srgbClr val="1C2229"/>
                </a:solidFill>
              </a:defRPr>
            </a:pPr>
            <a:r>
              <a:t>large dense baseline은 SH + TP + force_output이 동시에 크다</a:t>
            </a:r>
          </a:p>
          <a:p>
            <a:pPr>
              <a:spcAft>
                <a:spcPts val="1000"/>
              </a:spcAft>
              <a:defRPr sz="1800">
                <a:solidFill>
                  <a:srgbClr val="1C2229"/>
                </a:solidFill>
              </a:defRPr>
            </a:pPr>
            <a:r>
              <a:t>weight_nn, gather, aggregation은 baseline에서도 상대적으로 작다</a:t>
            </a:r>
          </a:p>
          <a:p>
            <a:pPr>
              <a:spcAft>
                <a:spcPts val="1000"/>
              </a:spcAft>
              <a:defRPr sz="1800">
                <a:solidFill>
                  <a:srgbClr val="1C2229"/>
                </a:solidFill>
              </a:defRPr>
            </a:pPr>
            <a:r>
              <a:t>그래서 현재 pair execution의 이득은 일부 구간에서만 크게 보인다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28232"/>
            <a:ext cx="11247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A6370"/>
                </a:solidFill>
              </a:rPr>
              <a:t>Lab Seminar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1498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2229"/>
                </a:solidFill>
              </a:defRPr>
            </a:pPr>
            <a:r>
              <a:t>랩 실험 결과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87552"/>
            <a:ext cx="1078992" cy="64008"/>
          </a:xfrm>
          <a:prstGeom prst="rect">
            <a:avLst/>
          </a:prstGeom>
          <a:solidFill>
            <a:srgbClr val="BF4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evenN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9184"/>
            <a:ext cx="1234440" cy="5115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1371600"/>
            <a:ext cx="10104120" cy="4526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C2229"/>
                </a:solidFill>
              </a:defRPr>
            </a:pPr>
            <a:r>
              <a:t>steady-state 기준, dense-large 구간에서 speedup이 가장 크고 dense/small or sparse/small에서는 손해 또는 약한 이득</a:t>
            </a:r>
          </a:p>
          <a:p>
            <a:pPr>
              <a:spcAft>
                <a:spcPts val="1000"/>
              </a:spcAft>
              <a:defRPr sz="2100">
                <a:solidFill>
                  <a:srgbClr val="1C2229"/>
                </a:solidFill>
              </a:defRPr>
            </a:pPr>
            <a:r>
              <a:t>GPU utilization과 stage profiling을 같이 보면, 작은 그래프는 saved work 절대량이 작고 under-fill 문제가 남는다</a:t>
            </a:r>
          </a:p>
          <a:p>
            <a:pPr>
              <a:spcAft>
                <a:spcPts val="1000"/>
              </a:spcAft>
              <a:defRPr sz="2100">
                <a:solidFill>
                  <a:srgbClr val="1C2229"/>
                </a:solidFill>
              </a:defRPr>
            </a:pPr>
            <a:r>
              <a:t>반대로 dense-large에서는 geometry reuse가 실제 wall time 감소로 이어진다</a:t>
            </a:r>
          </a:p>
          <a:p>
            <a:pPr>
              <a:spcAft>
                <a:spcPts val="1000"/>
              </a:spcAft>
              <a:defRPr sz="2100">
                <a:solidFill>
                  <a:srgbClr val="1C2229"/>
                </a:solidFill>
              </a:defRPr>
            </a:pPr>
            <a:r>
              <a:t>현재 구현은 pair-major TP가 아니므로 speedup ceiling이 존재한다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5687568"/>
            <a:ext cx="10104120" cy="530352"/>
          </a:xfrm>
          <a:prstGeom prst="round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D4861"/>
                </a:solidFill>
              </a:defRPr>
            </a:pPr>
            <a:r>
              <a:t>단일 GPU lab benchmark와 public real dataset benchmark를 함께 해석했다.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28232"/>
            <a:ext cx="11247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A6370"/>
                </a:solidFill>
              </a:rPr>
              <a:t>Lab Seminar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1498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2229"/>
                </a:solidFill>
              </a:defRPr>
            </a:pPr>
            <a:r>
              <a:t>Discussion: 왜 어떤 경우는 이기고, 어떤 경우는 지는가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87552"/>
            <a:ext cx="1078992" cy="64008"/>
          </a:xfrm>
          <a:prstGeom prst="rect">
            <a:avLst/>
          </a:prstGeom>
          <a:solidFill>
            <a:srgbClr val="BF4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evenN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9184"/>
            <a:ext cx="1234440" cy="511508"/>
          </a:xfrm>
          <a:prstGeom prst="rect">
            <a:avLst/>
          </a:prstGeom>
        </p:spPr>
      </p:pic>
      <p:pic>
        <p:nvPicPr>
          <p:cNvPr id="5" name="Picture 4" descr="quadrant_mechanism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298448"/>
            <a:ext cx="6583680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35240" y="1536192"/>
            <a:ext cx="324612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C2229"/>
                </a:solidFill>
              </a:defRPr>
            </a:pPr>
            <a:r>
              <a:t>small sparse: saved work 절대량이 작고 GPU fill도 낮다</a:t>
            </a:r>
          </a:p>
          <a:p>
            <a:pPr>
              <a:spcAft>
                <a:spcPts val="1000"/>
              </a:spcAft>
              <a:defRPr sz="1600">
                <a:solidFill>
                  <a:srgbClr val="1C2229"/>
                </a:solidFill>
              </a:defRPr>
            </a:pPr>
            <a:r>
              <a:t>small dense: atom 수는 작아도 edge load가 충분하면 이길 수 있다</a:t>
            </a:r>
          </a:p>
          <a:p>
            <a:pPr>
              <a:spcAft>
                <a:spcPts val="1000"/>
              </a:spcAft>
              <a:defRPr sz="1600">
                <a:solidFill>
                  <a:srgbClr val="1C2229"/>
                </a:solidFill>
              </a:defRPr>
            </a:pPr>
            <a:r>
              <a:t>large sparse: 크기만 크다고 자동으로 이기진 않지만 break-even을 넘기기 시작한다</a:t>
            </a:r>
          </a:p>
          <a:p>
            <a:pPr>
              <a:spcAft>
                <a:spcPts val="1000"/>
              </a:spcAft>
              <a:defRPr sz="1600">
                <a:solidFill>
                  <a:srgbClr val="1C2229"/>
                </a:solidFill>
              </a:defRPr>
            </a:pPr>
            <a:r>
              <a:t>large dense: geometry reuse가 가장 크게 먹히는 구간이다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28232"/>
            <a:ext cx="11247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A6370"/>
                </a:solidFill>
              </a:rPr>
              <a:t>Lab Seminar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1498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2229"/>
                </a:solidFill>
              </a:defRPr>
            </a:pPr>
            <a:r>
              <a:t>지금까지 구현한 것과 남은 것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87552"/>
            <a:ext cx="1078992" cy="64008"/>
          </a:xfrm>
          <a:prstGeom prst="rect">
            <a:avLst/>
          </a:prstGeom>
          <a:solidFill>
            <a:srgbClr val="BF4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evenN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9184"/>
            <a:ext cx="1234440" cy="51150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41248" y="1417320"/>
            <a:ext cx="4846320" cy="4251960"/>
          </a:xfrm>
          <a:prstGeom prst="roundRect">
            <a:avLst/>
          </a:prstGeom>
          <a:solidFill>
            <a:srgbClr val="DAF0E5"/>
          </a:solidFill>
          <a:ln>
            <a:solidFill>
              <a:srgbClr val="2D48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72768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C2229"/>
                </a:solidFill>
              </a:defRPr>
            </a:pPr>
            <a:r>
              <a:t>완료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1993392"/>
            <a:ext cx="4297680" cy="3246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C2229"/>
                </a:solidFill>
              </a:defRPr>
            </a:pPr>
            <a:r>
              <a:t>pair metadata / topology cache 정리</a:t>
            </a:r>
          </a:p>
          <a:p>
            <a:pPr>
              <a:spcAft>
                <a:spcPts val="1000"/>
              </a:spcAft>
              <a:defRPr sz="1800">
                <a:solidFill>
                  <a:srgbClr val="1C2229"/>
                </a:solidFill>
              </a:defRPr>
            </a:pPr>
            <a:r>
              <a:t>geometry + weight reuse 구현</a:t>
            </a:r>
          </a:p>
          <a:p>
            <a:pPr>
              <a:spcAft>
                <a:spcPts val="1000"/>
              </a:spcAft>
              <a:defRPr sz="1800">
                <a:solidFill>
                  <a:srgbClr val="1C2229"/>
                </a:solidFill>
              </a:defRPr>
            </a:pPr>
            <a:r>
              <a:t>baseline / pair 실험 파이프라인</a:t>
            </a:r>
          </a:p>
          <a:p>
            <a:pPr>
              <a:spcAft>
                <a:spcPts val="1000"/>
              </a:spcAft>
              <a:defRPr sz="1800">
                <a:solidFill>
                  <a:srgbClr val="1C2229"/>
                </a:solidFill>
              </a:defRPr>
            </a:pPr>
            <a:r>
              <a:t>size-density / profiling / GPU util 분석</a:t>
            </a:r>
          </a:p>
          <a:p>
            <a:pPr>
              <a:spcAft>
                <a:spcPts val="1000"/>
              </a:spcAft>
              <a:defRPr sz="1800">
                <a:solidFill>
                  <a:srgbClr val="1C2229"/>
                </a:solidFill>
              </a:defRPr>
            </a:pPr>
            <a:r>
              <a:t>세미나용 자원 및 다이어그램 생성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4846320" cy="4251960"/>
          </a:xfrm>
          <a:prstGeom prst="roundRect">
            <a:avLst/>
          </a:prstGeom>
          <a:solidFill>
            <a:srgbClr val="EDDDD1"/>
          </a:solidFill>
          <a:ln>
            <a:solidFill>
              <a:srgbClr val="2D48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572768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C2229"/>
                </a:solidFill>
              </a:defRPr>
            </a:pPr>
            <a:r>
              <a:t>남은 핵심 과제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93392"/>
            <a:ext cx="4297680" cy="3246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C2229"/>
                </a:solidFill>
              </a:defRPr>
            </a:pPr>
            <a:r>
              <a:t>pair-major TP kernel</a:t>
            </a:r>
          </a:p>
          <a:p>
            <a:pPr>
              <a:spcAft>
                <a:spcPts val="1000"/>
              </a:spcAft>
              <a:defRPr sz="1800">
                <a:solidFill>
                  <a:srgbClr val="1C2229"/>
                </a:solidFill>
              </a:defRPr>
            </a:pPr>
            <a:r>
              <a:t>FlashTP와의 진짜 backend co-design</a:t>
            </a:r>
          </a:p>
          <a:p>
            <a:pPr>
              <a:spcAft>
                <a:spcPts val="1000"/>
              </a:spcAft>
              <a:defRPr sz="1800">
                <a:solidFill>
                  <a:srgbClr val="1C2229"/>
                </a:solidFill>
              </a:defRPr>
            </a:pPr>
            <a:r>
              <a:t>distributed pair schedule</a:t>
            </a:r>
          </a:p>
          <a:p>
            <a:pPr>
              <a:spcAft>
                <a:spcPts val="1000"/>
              </a:spcAft>
              <a:defRPr sz="1800">
                <a:solidFill>
                  <a:srgbClr val="1C2229"/>
                </a:solidFill>
              </a:defRPr>
            </a:pPr>
            <a:r>
              <a:t>더 큰 public dataset 완전 확보</a:t>
            </a:r>
          </a:p>
          <a:p>
            <a:pPr>
              <a:spcAft>
                <a:spcPts val="1000"/>
              </a:spcAft>
              <a:defRPr sz="1800">
                <a:solidFill>
                  <a:srgbClr val="1C2229"/>
                </a:solidFill>
              </a:defRPr>
            </a:pPr>
            <a:r>
              <a:t>additive profiler 정리와 논문화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28232"/>
            <a:ext cx="11247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A6370"/>
                </a:solidFill>
              </a:rPr>
              <a:t>Lab Seminar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1498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2229"/>
                </a:solidFill>
              </a:defRPr>
            </a:pPr>
            <a:r>
              <a:t>결론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87552"/>
            <a:ext cx="1078992" cy="64008"/>
          </a:xfrm>
          <a:prstGeom prst="rect">
            <a:avLst/>
          </a:prstGeom>
          <a:solidFill>
            <a:srgbClr val="BF4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evenN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9184"/>
            <a:ext cx="1234440" cy="51150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60120" y="1645920"/>
            <a:ext cx="10058400" cy="3566160"/>
          </a:xfrm>
          <a:prstGeom prst="roundRect">
            <a:avLst/>
          </a:prstGeom>
          <a:solidFill>
            <a:srgbClr val="DBE6EE"/>
          </a:solidFill>
          <a:ln>
            <a:solidFill>
              <a:srgbClr val="2D48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938528"/>
            <a:ext cx="9555480" cy="2834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C2229"/>
                </a:solidFill>
              </a:defRPr>
            </a:pPr>
            <a:r>
              <a:t>재사용 연산값을 pair-shared / parity-recoverable / direction-specific / node-global로 나누는 것이 출발점이다.</a:t>
            </a:r>
          </a:p>
          <a:p>
            <a:pPr>
              <a:spcAft>
                <a:spcPts val="1000"/>
              </a:spcAft>
              <a:defRPr sz="2000">
                <a:solidFill>
                  <a:srgbClr val="1C2229"/>
                </a:solidFill>
              </a:defRPr>
            </a:pPr>
            <a:r>
              <a:t>현재 SevenNet 구현은 geometry/SH/weight reuse까지는 왔지만, pair-major TP는 아직 아니다.</a:t>
            </a:r>
          </a:p>
          <a:p>
            <a:pPr>
              <a:spcAft>
                <a:spcPts val="1000"/>
              </a:spcAft>
              <a:defRPr sz="2000">
                <a:solidFill>
                  <a:srgbClr val="1C2229"/>
                </a:solidFill>
              </a:defRPr>
            </a:pPr>
            <a:r>
              <a:t>실험상 성패는 결국 edge load와 density의 조합으로 갈리고, 가장 강한 구간은 dense-large이다.</a:t>
            </a:r>
          </a:p>
          <a:p>
            <a:pPr>
              <a:spcAft>
                <a:spcPts val="1000"/>
              </a:spcAft>
              <a:defRPr sz="2000">
                <a:solidFill>
                  <a:srgbClr val="1C2229"/>
                </a:solidFill>
              </a:defRPr>
            </a:pPr>
            <a:r>
              <a:t>다음 단계의 연구 포인트는 pair-major execution과 backend/runtime co-design이다.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28232"/>
            <a:ext cx="11247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A6370"/>
                </a:solidFill>
              </a:rPr>
              <a:t>Lab Seminar 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1498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2229"/>
                </a:solidFill>
              </a:defRPr>
            </a:pPr>
            <a:r>
              <a:t>Appendix: 큰 데이터셋 확보 상태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87552"/>
            <a:ext cx="1078992" cy="64008"/>
          </a:xfrm>
          <a:prstGeom prst="rect">
            <a:avLst/>
          </a:prstGeom>
          <a:solidFill>
            <a:srgbClr val="BF4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evenN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9184"/>
            <a:ext cx="1234440" cy="511508"/>
          </a:xfrm>
          <a:prstGeom prst="rect">
            <a:avLst/>
          </a:prstGeom>
        </p:spPr>
      </p:pic>
      <p:pic>
        <p:nvPicPr>
          <p:cNvPr id="5" name="Picture 4" descr="large_dataset_download_stat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325880"/>
            <a:ext cx="1024128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6428232"/>
            <a:ext cx="11247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A6370"/>
                </a:solidFill>
              </a:rPr>
              <a:t>Lab Seminar   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