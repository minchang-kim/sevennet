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606" r:id="rId3"/>
    <p:sldId id="613" r:id="rId4"/>
    <p:sldId id="618" r:id="rId5"/>
    <p:sldId id="621" r:id="rId6"/>
    <p:sldId id="623" r:id="rId7"/>
    <p:sldId id="624" r:id="rId8"/>
    <p:sldId id="627" r:id="rId9"/>
    <p:sldId id="617" r:id="rId10"/>
    <p:sldId id="622" r:id="rId11"/>
    <p:sldId id="625" r:id="rId12"/>
    <p:sldId id="614" r:id="rId13"/>
    <p:sldId id="615" r:id="rId14"/>
    <p:sldId id="619" r:id="rId15"/>
  </p:sldIdLst>
  <p:sldSz cx="12192000" cy="6858000"/>
  <p:notesSz cx="6858000" cy="9144000"/>
  <p:embeddedFontLst>
    <p:embeddedFont>
      <p:font typeface="Cambria Math" panose="02040503050406030204" pitchFamily="18" charset="0"/>
      <p:regular r:id="rId17"/>
    </p:embeddedFont>
    <p:embeddedFont>
      <p:font typeface="lato" panose="020F0502020204030203" pitchFamily="34" charset="0"/>
      <p:regular r:id="rId18"/>
      <p:bold r:id="rId19"/>
      <p:boldItalic r:id="rId20"/>
    </p:embeddedFont>
    <p:embeddedFont>
      <p:font typeface="lato" panose="020F0502020204030203" pitchFamily="34" charset="0"/>
      <p:regular r:id="rId18"/>
      <p:bold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Roboto Black" panose="02000000000000000000" pitchFamily="2" charset="0"/>
      <p:bold r:id="rId25"/>
      <p:italic r:id="rId26"/>
      <p:boldItalic r:id="rId27"/>
    </p:embeddedFont>
    <p:embeddedFont>
      <p:font typeface="맑은 고딕" panose="020B0503020000020004" pitchFamily="50" charset="-127"/>
      <p:regular r:id="rId28"/>
      <p:bold r:id="rId29"/>
    </p:embeddedFont>
  </p:embeddedFontLst>
  <p:kinsoku lang="ko-KR" invalStChars="、。，．：；？！’”）〕］｝〉》」』】°℃％!%￠),.:;?]}&gt;" invalEndChars="‘“（〔［｛〈《「『【￥＄\￦￡€([{&lt;$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080" userDrawn="1">
          <p15:clr>
            <a:srgbClr val="A4A3A4"/>
          </p15:clr>
        </p15:guide>
        <p15:guide id="3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만든 이" initials="오전" lastIdx="0" clrIdx="1"/>
  <p:cmAuthor id="3" name="오영환" initials="오" lastIdx="1" clrIdx="2">
    <p:extLst>
      <p:ext uri="{19B8F6BF-5375-455C-9EA6-DF929625EA0E}">
        <p15:presenceInfo xmlns:p15="http://schemas.microsoft.com/office/powerpoint/2012/main" userId="S::younghwan@o365.skku.edu::b56430a2-ce48-4902-9b5b-3234a737611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1C5"/>
    <a:srgbClr val="0F0F70"/>
    <a:srgbClr val="01A248"/>
    <a:srgbClr val="0E0E70"/>
    <a:srgbClr val="428DC1"/>
    <a:srgbClr val="1C991C"/>
    <a:srgbClr val="FF8005"/>
    <a:srgbClr val="A8D7A8"/>
    <a:srgbClr val="00A249"/>
    <a:srgbClr val="3F90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74" autoAdjust="0"/>
    <p:restoredTop sz="78788" autoAdjust="0"/>
  </p:normalViewPr>
  <p:slideViewPr>
    <p:cSldViewPr snapToGrid="0" showGuides="1">
      <p:cViewPr varScale="1">
        <p:scale>
          <a:sx n="87" d="100"/>
          <a:sy n="87" d="100"/>
        </p:scale>
        <p:origin x="1308" y="84"/>
      </p:cViewPr>
      <p:guideLst>
        <p:guide pos="4080"/>
        <p:guide orient="horz" pos="1656"/>
      </p:guideLst>
    </p:cSldViewPr>
  </p:slideViewPr>
  <p:outlineViewPr>
    <p:cViewPr>
      <p:scale>
        <a:sx n="33" d="100"/>
        <a:sy n="33" d="100"/>
      </p:scale>
      <p:origin x="0" y="-2044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>
        <p:scale>
          <a:sx n="87" d="100"/>
          <a:sy n="87" d="100"/>
        </p:scale>
        <p:origin x="3840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Relationship Id="rId25" Type="http://schemas.openxmlformats.org/officeDocument/2006/relationships/font" Target="fonts/font9.fntdata"/><Relationship Id="rId26" Type="http://schemas.openxmlformats.org/officeDocument/2006/relationships/font" Target="fonts/font10.fntdata"/><Relationship Id="rId27" Type="http://schemas.openxmlformats.org/officeDocument/2006/relationships/font" Target="fonts/font11.fntdata"/><Relationship Id="rId28" Type="http://schemas.openxmlformats.org/officeDocument/2006/relationships/font" Target="fonts/font12.fntdata"/><Relationship Id="rId29" Type="http://schemas.openxmlformats.org/officeDocument/2006/relationships/font" Target="fonts/font13.fntdata"/><Relationship Id="rId30" Type="http://schemas.openxmlformats.org/officeDocument/2006/relationships/commentAuthors" Target="commentAuthors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53B65-7BB5-4D60-9879-5AFC8E04B446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B6E87F-228F-44B2-B4EE-9BD47B249A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3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ko-KR" dirty="0"/>
              <a:t>"</a:t>
            </a:r>
            <a:r>
              <a:rPr lang="ko-KR" altLang="en-US" dirty="0"/>
              <a:t>안녕하십니까</a:t>
            </a:r>
            <a:r>
              <a:rPr lang="en-US" altLang="ko-KR" dirty="0"/>
              <a:t>, WISE </a:t>
            </a:r>
            <a:r>
              <a:rPr lang="ko-KR" altLang="en-US" dirty="0"/>
              <a:t>세미나 발표를 맡은 </a:t>
            </a:r>
            <a:r>
              <a:rPr lang="ko-KR" altLang="en-US" dirty="0" err="1"/>
              <a:t>김민창입니다</a:t>
            </a:r>
            <a:r>
              <a:rPr lang="en-US" altLang="ko-KR" dirty="0"/>
              <a:t>. </a:t>
            </a:r>
            <a:r>
              <a:rPr lang="ko-KR" altLang="en-US" dirty="0"/>
              <a:t>오늘 제가 발표할 주제는 **</a:t>
            </a:r>
            <a:r>
              <a:rPr lang="en-US" altLang="ko-KR" dirty="0"/>
              <a:t>'</a:t>
            </a:r>
            <a:r>
              <a:rPr lang="ko-KR" altLang="en-US" dirty="0"/>
              <a:t>재구성</a:t>
            </a:r>
            <a:r>
              <a:rPr lang="en-US" altLang="ko-KR" dirty="0"/>
              <a:t>(Reconstruction)</a:t>
            </a:r>
            <a:r>
              <a:rPr lang="ko-KR" altLang="en-US" dirty="0"/>
              <a:t>을 통한 </a:t>
            </a:r>
            <a:r>
              <a:rPr lang="en-US" altLang="ko-KR" dirty="0"/>
              <a:t>GNN-IP </a:t>
            </a:r>
            <a:r>
              <a:rPr lang="ko-KR" altLang="en-US" dirty="0"/>
              <a:t>추론 최적화</a:t>
            </a:r>
            <a:r>
              <a:rPr lang="en-US" altLang="ko-KR" dirty="0"/>
              <a:t>(Inference Optimization)'**</a:t>
            </a:r>
            <a:r>
              <a:rPr lang="ko-KR" altLang="en-US" dirty="0"/>
              <a:t>입니다</a:t>
            </a:r>
            <a:r>
              <a:rPr lang="en-US" altLang="ko-KR" dirty="0"/>
              <a:t>."</a:t>
            </a:r>
            <a:endParaRPr lang="en-US" altLang="ko-KR" sz="1200" b="0" i="0" u="none" strike="noStrike" kern="1400" dirty="0">
              <a:latin typeface="+mn-lt"/>
              <a:ea typeface="맑은 고딕" panose="020B0503020000020004" pitchFamily="34" charset="-127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997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1E340-11CA-FF0E-7943-8151AD239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C9E45-17F4-28F3-2CA0-1730E683B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4AE80-0BF1-92D8-0F7F-05E0B3012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ko-KR" dirty="0"/>
              <a:t>"</a:t>
            </a:r>
            <a:r>
              <a:rPr lang="ko-KR" altLang="en-US" dirty="0"/>
              <a:t>오늘 발표는 크게 연구 제안 배경</a:t>
            </a:r>
            <a:r>
              <a:rPr lang="en-US" altLang="ko-KR" dirty="0"/>
              <a:t>, </a:t>
            </a:r>
            <a:r>
              <a:rPr lang="ko-KR" altLang="en-US" dirty="0"/>
              <a:t>기존 </a:t>
            </a:r>
            <a:r>
              <a:rPr lang="en-US" altLang="ko-KR" dirty="0" err="1"/>
              <a:t>NequIP</a:t>
            </a:r>
            <a:r>
              <a:rPr lang="en-US" altLang="ko-KR" dirty="0"/>
              <a:t> </a:t>
            </a:r>
            <a:r>
              <a:rPr lang="ko-KR" altLang="en-US" dirty="0"/>
              <a:t>모델의 파이프라인과 문제점</a:t>
            </a:r>
            <a:r>
              <a:rPr lang="en-US" altLang="ko-KR" dirty="0"/>
              <a:t>, </a:t>
            </a:r>
            <a:r>
              <a:rPr lang="ko-KR" altLang="en-US" dirty="0"/>
              <a:t>이를 해결하기 위한 핵심 챌린지와 관련 연구들을 살펴보고 </a:t>
            </a:r>
            <a:r>
              <a:rPr lang="en-US" altLang="ko-KR" dirty="0"/>
              <a:t>, </a:t>
            </a:r>
            <a:r>
              <a:rPr lang="ko-KR" altLang="en-US" dirty="0"/>
              <a:t>이어서 제가 제안하는 기법과 향후 실험 계획</a:t>
            </a:r>
            <a:r>
              <a:rPr lang="en-US" altLang="ko-KR" dirty="0"/>
              <a:t>, </a:t>
            </a:r>
            <a:r>
              <a:rPr lang="ko-KR" altLang="en-US" dirty="0"/>
              <a:t>그리고 마지막 </a:t>
            </a:r>
            <a:r>
              <a:rPr lang="ko-KR" altLang="en-US" dirty="0" err="1"/>
              <a:t>디스커션</a:t>
            </a:r>
            <a:r>
              <a:rPr lang="ko-KR" altLang="en-US" dirty="0"/>
              <a:t> 순으로 진행하겠습니다</a:t>
            </a:r>
            <a:r>
              <a:rPr lang="en-US" altLang="ko-KR" dirty="0"/>
              <a:t>.</a:t>
            </a:r>
            <a:endParaRPr lang="en-US" altLang="ko-KR" sz="1200" b="0" i="0" u="none" strike="noStrike" kern="1400" dirty="0">
              <a:latin typeface="+mn-lt"/>
              <a:ea typeface="맑은 고딕" panose="020B0503020000020004" pitchFamily="34" charset="-127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D8014-3BD9-8B1D-92D0-D3AF36FFF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797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47BEB-C0F7-A148-FC31-DEBD15210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3A9140-98B1-C5A8-1851-5FDB56529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F8AF9-E9B3-B421-6F99-A74C5859B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먼저 </a:t>
            </a:r>
            <a:r>
              <a:rPr lang="en-US" altLang="ko-KR" dirty="0"/>
              <a:t>R&amp;D </a:t>
            </a:r>
            <a:r>
              <a:rPr lang="ko-KR" altLang="en-US" dirty="0"/>
              <a:t>제안 개요입니다</a:t>
            </a:r>
            <a:r>
              <a:rPr lang="en-US" altLang="ko-KR" dirty="0"/>
              <a:t>. 3</a:t>
            </a:r>
            <a:r>
              <a:rPr lang="ko-KR" altLang="en-US" dirty="0"/>
              <a:t>차년도의 핵심 목표는 </a:t>
            </a:r>
            <a:r>
              <a:rPr lang="en-US" altLang="ko-KR" b="1" dirty="0"/>
              <a:t>GNN-IP </a:t>
            </a:r>
            <a:r>
              <a:rPr lang="ko-KR" altLang="en-US" b="1" dirty="0"/>
              <a:t>커널 레벨의 최적화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기존의 스탠다드 방식에서 벗어나</a:t>
            </a:r>
            <a:r>
              <a:rPr lang="en-US" altLang="ko-KR" dirty="0"/>
              <a:t>, </a:t>
            </a:r>
            <a:r>
              <a:rPr lang="ko-KR" altLang="en-US" dirty="0"/>
              <a:t>입력 표현 구조</a:t>
            </a:r>
            <a:r>
              <a:rPr lang="en-US" altLang="ko-KR" dirty="0"/>
              <a:t>(Input representation) </a:t>
            </a:r>
            <a:r>
              <a:rPr lang="ko-KR" altLang="en-US" dirty="0"/>
              <a:t>자체를 재구성하여 불필요한 중복 계산을 완전히 제거하고</a:t>
            </a:r>
            <a:r>
              <a:rPr lang="en-US" altLang="ko-KR" dirty="0"/>
              <a:t>, </a:t>
            </a:r>
            <a:r>
              <a:rPr lang="ko-KR" altLang="en-US" dirty="0" err="1"/>
              <a:t>텐서</a:t>
            </a:r>
            <a:r>
              <a:rPr lang="ko-KR" altLang="en-US" dirty="0"/>
              <a:t> 곱</a:t>
            </a:r>
            <a:r>
              <a:rPr lang="en-US" altLang="ko-KR" dirty="0"/>
              <a:t>(TP)</a:t>
            </a:r>
            <a:r>
              <a:rPr lang="ko-KR" altLang="en-US" dirty="0"/>
              <a:t>이 아닌 연산들에 대해서도 </a:t>
            </a:r>
            <a:r>
              <a:rPr lang="en-US" altLang="ko-KR" dirty="0"/>
              <a:t>Triton </a:t>
            </a:r>
            <a:r>
              <a:rPr lang="ko-KR" altLang="en-US" dirty="0"/>
              <a:t>커널 최적화를 수행하는 것을 목표로 합니다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7548D-D1DD-42ED-076A-95605BF51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110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07E70-C9EE-A0BC-79DA-73ED8C85B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DD7EF-496E-89E7-6558-210527BAE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36537-11CB-7FDE-65F3-B488B727A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이후 </a:t>
            </a:r>
            <a:r>
              <a:rPr lang="en-US" altLang="ko-KR" dirty="0"/>
              <a:t>4</a:t>
            </a:r>
            <a:r>
              <a:rPr lang="ko-KR" altLang="en-US" dirty="0"/>
              <a:t>차년도에는 시간적 중복성</a:t>
            </a:r>
            <a:r>
              <a:rPr lang="en-US" altLang="ko-KR" dirty="0"/>
              <a:t>(Temporal redundancy)</a:t>
            </a:r>
            <a:r>
              <a:rPr lang="ko-KR" altLang="en-US" dirty="0"/>
              <a:t>을 활용해 학습이 필요 없는 적응형 </a:t>
            </a:r>
            <a:r>
              <a:rPr lang="ko-KR" altLang="en-US" dirty="0" err="1"/>
              <a:t>스킵</a:t>
            </a:r>
            <a:r>
              <a:rPr lang="ko-KR" altLang="en-US" dirty="0"/>
              <a:t> 정책</a:t>
            </a:r>
            <a:r>
              <a:rPr lang="en-US" altLang="ko-KR" dirty="0"/>
              <a:t>(Adaptive skipping policy)</a:t>
            </a:r>
            <a:r>
              <a:rPr lang="ko-KR" altLang="en-US" dirty="0"/>
              <a:t>을 설계하여 런타임을 최적화할 계획입니다</a:t>
            </a:r>
            <a:r>
              <a:rPr lang="en-US" altLang="ko-KR" dirty="0"/>
              <a:t>. </a:t>
            </a:r>
            <a:r>
              <a:rPr lang="ko-KR" altLang="en-US" dirty="0"/>
              <a:t>최종적으로 </a:t>
            </a:r>
            <a:r>
              <a:rPr lang="en-US" altLang="ko-KR" dirty="0"/>
              <a:t>5</a:t>
            </a:r>
            <a:r>
              <a:rPr lang="ko-KR" altLang="en-US" dirty="0"/>
              <a:t>차년도에는 멀티 </a:t>
            </a:r>
            <a:r>
              <a:rPr lang="en-US" altLang="ko-KR" dirty="0"/>
              <a:t>GPU </a:t>
            </a:r>
            <a:r>
              <a:rPr lang="ko-KR" altLang="en-US" dirty="0"/>
              <a:t>및 멀티 노드 시뮬레이션 환경으로 확장하여 대규모 분산 시스템에서도 확장이 가능한</a:t>
            </a:r>
            <a:r>
              <a:rPr lang="en-US" altLang="ko-KR" dirty="0"/>
              <a:t>(Scalable) </a:t>
            </a:r>
            <a:r>
              <a:rPr lang="ko-KR" altLang="en-US" dirty="0"/>
              <a:t>가속을 이뤄내는 것이 전체 로드맵입니다</a:t>
            </a:r>
            <a:r>
              <a:rPr lang="en-US" altLang="ko-KR" dirty="0"/>
              <a:t>."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02E2D-57F9-95B1-D691-7B7CF2156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255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그럼 본격적으로 베이스라인 파이프라인부터 살펴보겠습니다</a:t>
            </a:r>
            <a:r>
              <a:rPr lang="en-US" altLang="ko-KR" dirty="0"/>
              <a:t>. </a:t>
            </a:r>
            <a:r>
              <a:rPr lang="ko-KR" altLang="en-US" dirty="0"/>
              <a:t>대표적인 </a:t>
            </a:r>
            <a:r>
              <a:rPr lang="en-US" altLang="ko-KR" dirty="0"/>
              <a:t>E(3)-</a:t>
            </a:r>
            <a:r>
              <a:rPr lang="ko-KR" altLang="en-US" dirty="0" err="1"/>
              <a:t>공변성</a:t>
            </a:r>
            <a:r>
              <a:rPr lang="en-US" altLang="ko-KR" dirty="0"/>
              <a:t>(Equivariant) </a:t>
            </a:r>
            <a:r>
              <a:rPr lang="ko-KR" altLang="en-US" dirty="0"/>
              <a:t>모델인 </a:t>
            </a:r>
            <a:r>
              <a:rPr lang="en-US" altLang="ko-KR" dirty="0" err="1"/>
              <a:t>NequIP</a:t>
            </a:r>
            <a:r>
              <a:rPr lang="ko-KR" altLang="en-US" dirty="0"/>
              <a:t>의 구조입니다</a:t>
            </a:r>
            <a:r>
              <a:rPr lang="en-US" altLang="ko-KR" dirty="0"/>
              <a:t>. </a:t>
            </a:r>
            <a:r>
              <a:rPr lang="ko-KR" altLang="en-US" dirty="0"/>
              <a:t>노드와 에지 정보를 바탕으로 </a:t>
            </a:r>
            <a:r>
              <a:rPr lang="ko-KR" altLang="en-US" dirty="0" err="1"/>
              <a:t>임베딩을</a:t>
            </a:r>
            <a:r>
              <a:rPr lang="ko-KR" altLang="en-US" dirty="0"/>
              <a:t> 거친 뒤</a:t>
            </a:r>
            <a:r>
              <a:rPr lang="en-US" altLang="ko-KR" dirty="0"/>
              <a:t>, </a:t>
            </a:r>
            <a:r>
              <a:rPr lang="ko-KR" altLang="en-US" dirty="0"/>
              <a:t>메시지 </a:t>
            </a:r>
            <a:r>
              <a:rPr lang="ko-KR" altLang="en-US" dirty="0" err="1"/>
              <a:t>패싱</a:t>
            </a:r>
            <a:r>
              <a:rPr lang="ko-KR" altLang="en-US" dirty="0"/>
              <a:t> 블록 내에서 </a:t>
            </a:r>
            <a:r>
              <a:rPr lang="en-US" altLang="ko-KR" dirty="0"/>
              <a:t>Spherical Harmonics($Y^{(l)}_m$) </a:t>
            </a:r>
            <a:r>
              <a:rPr lang="ko-KR" altLang="en-US" dirty="0"/>
              <a:t>생성과 </a:t>
            </a:r>
            <a:r>
              <a:rPr lang="en-US" altLang="ko-KR" dirty="0"/>
              <a:t>Clebsch-Gordan </a:t>
            </a:r>
            <a:r>
              <a:rPr lang="ko-KR" altLang="en-US" dirty="0" err="1"/>
              <a:t>텐서</a:t>
            </a:r>
            <a:r>
              <a:rPr lang="ko-KR" altLang="en-US" dirty="0"/>
              <a:t> 곱</a:t>
            </a:r>
            <a:r>
              <a:rPr lang="en-US" altLang="ko-KR" dirty="0"/>
              <a:t>(Tensor Product)</a:t>
            </a:r>
            <a:r>
              <a:rPr lang="ko-KR" altLang="en-US" dirty="0"/>
              <a:t>을 수행하여 노드의 특징을 업데이트합니다</a:t>
            </a:r>
            <a:r>
              <a:rPr lang="en-US" altLang="ko-KR" dirty="0"/>
              <a:t>. </a:t>
            </a:r>
            <a:r>
              <a:rPr lang="ko-KR" altLang="en-US" dirty="0"/>
              <a:t>핵심은 이 연산들이 방향과 거리에 철저하게 의존한다는 점입니다</a:t>
            </a:r>
            <a:r>
              <a:rPr lang="en-US" altLang="ko-KR" dirty="0"/>
              <a:t>."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476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여기서 발생하는</a:t>
            </a:r>
            <a:r>
              <a:rPr lang="ko-KR" altLang="en-US" b="1" dirty="0"/>
              <a:t> 문제점</a:t>
            </a:r>
            <a:r>
              <a:rPr lang="ko-KR" altLang="en-US" dirty="0"/>
              <a:t>을 짚어보겠습니다</a:t>
            </a:r>
            <a:r>
              <a:rPr lang="en-US" altLang="ko-KR" dirty="0"/>
              <a:t>. </a:t>
            </a:r>
            <a:r>
              <a:rPr lang="ko-KR" altLang="en-US" dirty="0"/>
              <a:t>두 원자 간의 거리</a:t>
            </a:r>
            <a:r>
              <a:rPr lang="en-US" altLang="ko-KR" dirty="0"/>
              <a:t>(Distance)</a:t>
            </a:r>
            <a:r>
              <a:rPr lang="ko-KR" altLang="en-US" dirty="0"/>
              <a:t>나 </a:t>
            </a:r>
            <a:r>
              <a:rPr lang="en-US" altLang="ko-KR" dirty="0"/>
              <a:t>Radial basis, Cutoff </a:t>
            </a:r>
            <a:r>
              <a:rPr lang="ko-KR" altLang="en-US" dirty="0"/>
              <a:t>같은 정보는 방향에 상관없는 페어</a:t>
            </a:r>
            <a:r>
              <a:rPr lang="en-US" altLang="ko-KR" dirty="0"/>
              <a:t>(Pair-invariant) </a:t>
            </a:r>
            <a:r>
              <a:rPr lang="ko-KR" altLang="en-US" dirty="0"/>
              <a:t>단위의 특성입니다</a:t>
            </a:r>
            <a:r>
              <a:rPr lang="en-US" altLang="ko-KR" dirty="0"/>
              <a:t>. </a:t>
            </a:r>
            <a:r>
              <a:rPr lang="ko-KR" altLang="en-US" dirty="0"/>
              <a:t>반면 </a:t>
            </a:r>
            <a:r>
              <a:rPr lang="en-US" altLang="ko-KR" dirty="0"/>
              <a:t>Spherical harmonics</a:t>
            </a:r>
            <a:r>
              <a:rPr lang="ko-KR" altLang="en-US" dirty="0"/>
              <a:t>나 </a:t>
            </a:r>
            <a:r>
              <a:rPr lang="en-US" altLang="ko-KR" dirty="0" err="1"/>
              <a:t>NequIP</a:t>
            </a:r>
            <a:r>
              <a:rPr lang="ko-KR" altLang="en-US" dirty="0"/>
              <a:t>의 가중치 필터</a:t>
            </a:r>
            <a:r>
              <a:rPr lang="en-US" altLang="ko-KR" dirty="0"/>
              <a:t>(Weighted filter)</a:t>
            </a:r>
            <a:r>
              <a:rPr lang="ko-KR" altLang="en-US" dirty="0"/>
              <a:t>는 철저히 방향에 의존</a:t>
            </a:r>
            <a:r>
              <a:rPr lang="en-US" altLang="ko-KR" dirty="0"/>
              <a:t>(Direction-dependent)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현재 구조에서는 방향이 다르면 이를 완전히 다른 </a:t>
            </a:r>
            <a:r>
              <a:rPr lang="ko-KR" altLang="en-US" dirty="0" err="1"/>
              <a:t>에지로</a:t>
            </a:r>
            <a:r>
              <a:rPr lang="ko-KR" altLang="en-US" dirty="0"/>
              <a:t> 취급하여 재사용이 불가능</a:t>
            </a:r>
            <a:r>
              <a:rPr lang="en-US" altLang="ko-KR" dirty="0"/>
              <a:t>(Non-reusable)</a:t>
            </a:r>
            <a:r>
              <a:rPr lang="ko-KR" altLang="en-US" dirty="0"/>
              <a:t>한 상태로 </a:t>
            </a:r>
            <a:r>
              <a:rPr lang="ko-KR" altLang="en-US" dirty="0" err="1"/>
              <a:t>텐서</a:t>
            </a:r>
            <a:r>
              <a:rPr lang="ko-KR" altLang="en-US" dirty="0"/>
              <a:t> 곱과 메시지 </a:t>
            </a:r>
            <a:r>
              <a:rPr lang="ko-KR" altLang="en-US" dirty="0" err="1"/>
              <a:t>패싱을</a:t>
            </a:r>
            <a:r>
              <a:rPr lang="ko-KR" altLang="en-US" dirty="0"/>
              <a:t> 각각 수행합니다</a:t>
            </a:r>
            <a:r>
              <a:rPr lang="en-US" altLang="ko-KR" dirty="0"/>
              <a:t>. </a:t>
            </a:r>
            <a:r>
              <a:rPr lang="ko-KR" altLang="en-US" dirty="0"/>
              <a:t>제 목표는 원본 </a:t>
            </a:r>
            <a:r>
              <a:rPr lang="en-US" altLang="ko-KR" dirty="0"/>
              <a:t>GNN-IP</a:t>
            </a:r>
            <a:r>
              <a:rPr lang="ko-KR" altLang="en-US" dirty="0"/>
              <a:t>의 수식과 학습된 파라미터를 그대로 보존하면서</a:t>
            </a:r>
            <a:r>
              <a:rPr lang="en-US" altLang="ko-KR" dirty="0"/>
              <a:t>, </a:t>
            </a:r>
            <a:r>
              <a:rPr lang="ko-KR" altLang="en-US" dirty="0"/>
              <a:t>이 데이터와 연산 흐름만을 효율적으로 재구성하는 것입니다</a:t>
            </a:r>
            <a:r>
              <a:rPr lang="en-US" altLang="ko-KR" dirty="0"/>
              <a:t>."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512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이 문제를 해결하기 위해서는 두 가지 큰 챌린지를 극복해야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첫째는 구조적 비효율성입니다</a:t>
            </a:r>
            <a:r>
              <a:rPr lang="en-US" altLang="ko-KR" dirty="0"/>
              <a:t>. </a:t>
            </a:r>
            <a:r>
              <a:rPr lang="ko-KR" altLang="en-US" dirty="0"/>
              <a:t>기존 </a:t>
            </a:r>
            <a:r>
              <a:rPr lang="en-US" altLang="ko-KR" dirty="0" err="1"/>
              <a:t>NequIP</a:t>
            </a:r>
            <a:r>
              <a:rPr lang="ko-KR" altLang="en-US" dirty="0"/>
              <a:t>은 </a:t>
            </a:r>
            <a:r>
              <a:rPr lang="en-US" altLang="ko-KR" dirty="0"/>
              <a:t>$</a:t>
            </a:r>
            <a:r>
              <a:rPr lang="en-US" altLang="ko-KR" dirty="0" err="1"/>
              <a:t>i</a:t>
            </a:r>
            <a:r>
              <a:rPr lang="en-US" altLang="ko-KR" dirty="0"/>
              <a:t>$</a:t>
            </a:r>
            <a:r>
              <a:rPr lang="ko-KR" altLang="en-US" dirty="0"/>
              <a:t>에서 </a:t>
            </a:r>
            <a:r>
              <a:rPr lang="en-US" altLang="ko-KR" dirty="0"/>
              <a:t>$j$, </a:t>
            </a:r>
            <a:r>
              <a:rPr lang="ko-KR" altLang="en-US" dirty="0"/>
              <a:t>그리고 </a:t>
            </a:r>
            <a:r>
              <a:rPr lang="en-US" altLang="ko-KR" dirty="0"/>
              <a:t>$j$</a:t>
            </a:r>
            <a:r>
              <a:rPr lang="ko-KR" altLang="en-US" dirty="0"/>
              <a:t>에서 </a:t>
            </a:r>
            <a:r>
              <a:rPr lang="en-US" altLang="ko-KR" dirty="0"/>
              <a:t>$</a:t>
            </a:r>
            <a:r>
              <a:rPr lang="en-US" altLang="ko-KR" dirty="0" err="1"/>
              <a:t>i</a:t>
            </a:r>
            <a:r>
              <a:rPr lang="en-US" altLang="ko-KR" dirty="0"/>
              <a:t>$</a:t>
            </a:r>
            <a:r>
              <a:rPr lang="ko-KR" altLang="en-US" dirty="0"/>
              <a:t>로 가는 양방향 </a:t>
            </a:r>
            <a:r>
              <a:rPr lang="ko-KR" altLang="en-US" dirty="0" err="1"/>
              <a:t>에지를</a:t>
            </a:r>
            <a:r>
              <a:rPr lang="ko-KR" altLang="en-US" dirty="0"/>
              <a:t> 철저히 독립적으로 처리하여 거리 연산 등이 중복 수행됩니다</a:t>
            </a:r>
            <a:r>
              <a:rPr lang="en-US" altLang="ko-KR" dirty="0"/>
              <a:t>. </a:t>
            </a:r>
            <a:r>
              <a:rPr lang="ko-KR" altLang="en-US" dirty="0"/>
              <a:t>이를 </a:t>
            </a:r>
            <a:r>
              <a:rPr lang="en-US" altLang="ko-KR" dirty="0"/>
              <a:t>'1</a:t>
            </a:r>
            <a:r>
              <a:rPr lang="ko-KR" altLang="en-US" dirty="0"/>
              <a:t>회 계산 후 부호 반전을 통한 재사용</a:t>
            </a:r>
            <a:r>
              <a:rPr lang="en-US" altLang="ko-KR" dirty="0"/>
              <a:t>'</a:t>
            </a:r>
            <a:r>
              <a:rPr lang="ko-KR" altLang="en-US" dirty="0"/>
              <a:t>이 가능하도록 페어 단위</a:t>
            </a:r>
            <a:r>
              <a:rPr lang="en-US" altLang="ko-KR" dirty="0"/>
              <a:t>(Pair-wise) </a:t>
            </a:r>
            <a:r>
              <a:rPr lang="ko-KR" altLang="en-US" dirty="0"/>
              <a:t>입력 구조로 개편해야 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842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B7482-4848-111F-1006-2D45D76DD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EC812D-D3A9-68A0-8AB4-2807F6A78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6B1EE0-A4C7-729D-35CA-4FE4EAD97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두 번째 챌린지는 </a:t>
            </a:r>
            <a:r>
              <a:rPr lang="en-US" altLang="ko-KR" dirty="0" err="1"/>
              <a:t>FlashTP</a:t>
            </a:r>
            <a:r>
              <a:rPr lang="en-US" altLang="ko-KR" dirty="0"/>
              <a:t> </a:t>
            </a:r>
            <a:r>
              <a:rPr lang="ko-KR" altLang="en-US" dirty="0"/>
              <a:t>로직과의 통합 및 </a:t>
            </a:r>
            <a:r>
              <a:rPr lang="en-US" altLang="ko-KR" dirty="0"/>
              <a:t>JIT </a:t>
            </a:r>
            <a:r>
              <a:rPr lang="ko-KR" altLang="en-US" dirty="0"/>
              <a:t>컴파일링입니다</a:t>
            </a:r>
            <a:r>
              <a:rPr lang="en-US" altLang="ko-KR" dirty="0"/>
              <a:t>. </a:t>
            </a:r>
            <a:r>
              <a:rPr lang="ko-KR" altLang="en-US" dirty="0"/>
              <a:t>저희의 페어 기반 재사용 로직을 </a:t>
            </a:r>
            <a:r>
              <a:rPr lang="ko-KR" altLang="en-US" dirty="0" err="1"/>
              <a:t>텐서</a:t>
            </a:r>
            <a:r>
              <a:rPr lang="ko-KR" altLang="en-US" dirty="0"/>
              <a:t> 곱</a:t>
            </a:r>
            <a:r>
              <a:rPr lang="en-US" altLang="ko-KR" dirty="0"/>
              <a:t>(TP)</a:t>
            </a:r>
            <a:r>
              <a:rPr lang="ko-KR" altLang="en-US" dirty="0"/>
              <a:t>과 하나의 커널로 융합</a:t>
            </a:r>
            <a:r>
              <a:rPr lang="en-US" altLang="ko-KR" dirty="0"/>
              <a:t>(Fusion)</a:t>
            </a:r>
            <a:r>
              <a:rPr lang="ko-KR" altLang="en-US" dirty="0"/>
              <a:t>해야 진정한 가속이 일어납니다</a:t>
            </a:r>
            <a:r>
              <a:rPr lang="en-US" altLang="ko-KR" dirty="0"/>
              <a:t>. </a:t>
            </a:r>
            <a:r>
              <a:rPr lang="ko-KR" altLang="en-US" dirty="0"/>
              <a:t>하지만 분자 동역학 시뮬레이션 중에는 원자들이 계속 움직이면서 그래프의 연결 위상</a:t>
            </a:r>
            <a:r>
              <a:rPr lang="en-US" altLang="ko-KR" dirty="0"/>
              <a:t>(Topology)</a:t>
            </a:r>
            <a:r>
              <a:rPr lang="ko-KR" altLang="en-US" dirty="0"/>
              <a:t>과 이웃 리스트</a:t>
            </a:r>
            <a:r>
              <a:rPr lang="en-US" altLang="ko-KR" dirty="0"/>
              <a:t>(Neighbor list)</a:t>
            </a:r>
            <a:r>
              <a:rPr lang="ko-KR" altLang="en-US" dirty="0"/>
              <a:t>가 매 스텝 동적으로 변합니다</a:t>
            </a:r>
            <a:r>
              <a:rPr lang="en-US" altLang="ko-KR" dirty="0"/>
              <a:t>. </a:t>
            </a:r>
            <a:r>
              <a:rPr lang="ko-KR" altLang="en-US" dirty="0"/>
              <a:t>따라서 미리 고정된 코드를 쓸 수 없고</a:t>
            </a:r>
            <a:r>
              <a:rPr lang="en-US" altLang="ko-KR" dirty="0"/>
              <a:t>, </a:t>
            </a:r>
            <a:r>
              <a:rPr lang="ko-KR" altLang="en-US" dirty="0"/>
              <a:t>런타임에 그래프 구조에 맞춰 최적의 커널을 즉석에서 생성하는 </a:t>
            </a:r>
            <a:r>
              <a:rPr lang="en-US" altLang="ko-KR" dirty="0"/>
              <a:t>JIT(Just-In-Time) </a:t>
            </a:r>
            <a:r>
              <a:rPr lang="ko-KR" altLang="en-US" dirty="0"/>
              <a:t>컴파일러 구현이 반드시 필요합니다</a:t>
            </a:r>
            <a:r>
              <a:rPr lang="en-US" altLang="ko-KR" dirty="0"/>
              <a:t>. </a:t>
            </a:r>
            <a:r>
              <a:rPr lang="ko-KR" altLang="en-US" dirty="0"/>
              <a:t>이 높은 시스템 구현 난이도를 극복하는 것이 본 연구의 핵심 과제입니다</a:t>
            </a:r>
            <a:r>
              <a:rPr lang="en-US" altLang="ko-KR" dirty="0"/>
              <a:t>."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2A48D1-CB1E-6EEB-4703-44C44954F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542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관련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연구들과의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비교를 통해 저희 제안 기법의 독창성을 정리해 보겠습니다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크게 두 가지 방향의 기존 연구들이 있었습니다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NEMP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같이 알고리즘 자체를 변형하는 연구들입니다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이들은 노드 공간에서 피처를 합쳐서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연산량을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줄이긴 하지만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모델의 원본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$E(3)$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공변성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(Equivariance)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수식과 표현력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(Expressivity)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자체를 훼손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한다는 치명적인 한계가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번째는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FlashTP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SevenNet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같은 시스템 레벨의 가속 연구들입니다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이들은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텐서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(TP)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커널을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퓨전하거나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멀티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확장에만 집중하고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앞단에서 발생하는 양방향 에지의 기하학적 중복 연산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들면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$j$, $j$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향하는 중복된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Spherical Harmonics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 문제는 전혀 해결하지 못한 채 방치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976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4638A-912B-1088-5ED1-DB1310B88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E04EE-B64A-CE61-5AB1-E80CDFC45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F60C1-9ADB-0629-0E8D-251DFC552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제가 제안할 기법의 수학적 근거를 잠시 보겠습니다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E(3)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모델은 회전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(Rotation),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(Translation),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(Reflection)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대한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공변성을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가집니다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상대 좌표를 써서 병진 불변성을 얻고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Spherical Harmonics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통해 회전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공변성을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얻습니다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가장 중요한 것은 **반사 대칭성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(Reflection symmetry)**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차수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$l$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따른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홀짝성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패리티 변환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(Parity transformation)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통해 완벽하게 제어될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1A6D5-05B2-487B-966C-66ACFEA71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149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이 기법을 제안하게 되었는지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배경과 수학적 근거를 말씀드리겠습니다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Spherical Harmonics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연산이 가장 큰 병목이기 때문입니다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아무리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카르테시안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다항식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(Cartesian coordinates)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사용하는 현대적 구현체라 하더라도 여전히 전체 커널 시간에서 막대한 비중을 차지합니다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방금 말씀드린 **패리티 속성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(Parity Property)**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보면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양방향 에지는 방향만 반대일 뿐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Y^l_m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(-\hat{r}{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ij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 = (-1)^l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Y^l_m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(\hat{r}{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ij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})$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아주 간단한 수학적 관계를 가집니다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한쪽 방향만 계산하고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(Compute Once),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반대 방향은 무거운 연산을 우회하여 비용이 전혀 없는 부호 반전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(Sign flip)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만으로 즉시 재사용하자는 것이 핵심 제안입니다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955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제안하는 파이프라인의 전체 구조도입니다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다이어그램 중앙을 보시면</a:t>
            </a:r>
            <a:r>
              <a:rPr lang="en-US" altLang="ko-KR" dirty="0"/>
              <a:t>, </a:t>
            </a:r>
            <a:r>
              <a:rPr lang="ko-KR" altLang="en-US" dirty="0"/>
              <a:t>기존에는 </a:t>
            </a:r>
            <a:r>
              <a:rPr lang="ko-KR" altLang="en-US" dirty="0" err="1"/>
              <a:t>양갈래로</a:t>
            </a:r>
            <a:r>
              <a:rPr lang="ko-KR" altLang="en-US" dirty="0"/>
              <a:t> 나뉘어 두 번 계산되던 흐름을 하나로 합쳐 **</a:t>
            </a:r>
            <a:r>
              <a:rPr lang="en-US" altLang="ko-KR" dirty="0"/>
              <a:t>'Pair-Level Edge Filter'**</a:t>
            </a:r>
            <a:r>
              <a:rPr lang="ko-KR" altLang="en-US" dirty="0"/>
              <a:t>를 단 한 번만 생성합니다</a:t>
            </a:r>
            <a:r>
              <a:rPr lang="en-US" altLang="ko-KR" dirty="0"/>
              <a:t>.</a:t>
            </a:r>
            <a:r>
              <a:rPr lang="ko-KR" altLang="en-US" dirty="0"/>
              <a:t>그리고 밑으로 내려와서 메시지를 생성할 때 비로소 흐름이 두 개로 갈라집니다</a:t>
            </a:r>
            <a:r>
              <a:rPr lang="en-US" altLang="ko-KR" dirty="0"/>
              <a:t>. $</a:t>
            </a:r>
            <a:r>
              <a:rPr lang="en-US" altLang="ko-KR" dirty="0" err="1"/>
              <a:t>i</a:t>
            </a:r>
            <a:r>
              <a:rPr lang="en-US" altLang="ko-KR" dirty="0"/>
              <a:t>$</a:t>
            </a:r>
            <a:r>
              <a:rPr lang="ko-KR" altLang="en-US" dirty="0"/>
              <a:t>에서 </a:t>
            </a:r>
            <a:r>
              <a:rPr lang="en-US" altLang="ko-KR" dirty="0"/>
              <a:t>$j$</a:t>
            </a:r>
            <a:r>
              <a:rPr lang="ko-KR" altLang="en-US" dirty="0"/>
              <a:t>로 가는 방향은 그대로 </a:t>
            </a:r>
            <a:r>
              <a:rPr lang="ko-KR" altLang="en-US" dirty="0" err="1"/>
              <a:t>텐서</a:t>
            </a:r>
            <a:r>
              <a:rPr lang="ko-KR" altLang="en-US" dirty="0"/>
              <a:t> 곱</a:t>
            </a:r>
            <a:r>
              <a:rPr lang="en-US" altLang="ko-KR" dirty="0"/>
              <a:t>(TP)</a:t>
            </a:r>
            <a:r>
              <a:rPr lang="ko-KR" altLang="en-US" dirty="0"/>
              <a:t>으로 들어가고</a:t>
            </a:r>
            <a:r>
              <a:rPr lang="en-US" altLang="ko-KR" dirty="0"/>
              <a:t>, $j$</a:t>
            </a:r>
            <a:r>
              <a:rPr lang="ko-KR" altLang="en-US" dirty="0"/>
              <a:t>에서 </a:t>
            </a:r>
            <a:r>
              <a:rPr lang="en-US" altLang="ko-KR" dirty="0"/>
              <a:t>$</a:t>
            </a:r>
            <a:r>
              <a:rPr lang="en-US" altLang="ko-KR" dirty="0" err="1"/>
              <a:t>i</a:t>
            </a:r>
            <a:r>
              <a:rPr lang="en-US" altLang="ko-KR" dirty="0"/>
              <a:t>$</a:t>
            </a:r>
            <a:r>
              <a:rPr lang="ko-KR" altLang="en-US" dirty="0"/>
              <a:t>로 가는 반대 방향은 앞서 구한 필터에 </a:t>
            </a:r>
            <a:r>
              <a:rPr lang="en-US" altLang="ko-KR" dirty="0"/>
              <a:t>$(-1)^l$</a:t>
            </a:r>
            <a:r>
              <a:rPr lang="ko-KR" altLang="en-US" dirty="0"/>
              <a:t>이라는 아주 단순한 **부호 반전</a:t>
            </a:r>
            <a:r>
              <a:rPr lang="en-US" altLang="ko-KR" dirty="0"/>
              <a:t>(Sign Flip)**</a:t>
            </a:r>
            <a:r>
              <a:rPr lang="ko-KR" altLang="en-US" dirty="0"/>
              <a:t>만 곱해서 즉시 메시지 생성에 사용합니다</a:t>
            </a:r>
            <a:r>
              <a:rPr lang="en-US" altLang="ko-KR" dirty="0"/>
              <a:t>. </a:t>
            </a:r>
            <a:r>
              <a:rPr lang="ko-KR" altLang="en-US" dirty="0"/>
              <a:t>무거운 기하학적 연산은 공유하고</a:t>
            </a:r>
            <a:r>
              <a:rPr lang="en-US" altLang="ko-KR" dirty="0"/>
              <a:t>, </a:t>
            </a:r>
            <a:r>
              <a:rPr lang="ko-KR" altLang="en-US" dirty="0" err="1"/>
              <a:t>텐서</a:t>
            </a:r>
            <a:r>
              <a:rPr lang="ko-KR" altLang="en-US" dirty="0"/>
              <a:t> 곱 직전에 부호만 바꿔 오버헤드를 제로</a:t>
            </a:r>
            <a:r>
              <a:rPr lang="en-US" altLang="ko-KR" dirty="0"/>
              <a:t>(Zero)</a:t>
            </a:r>
            <a:r>
              <a:rPr lang="ko-KR" altLang="en-US" dirty="0"/>
              <a:t>로 만든 이 구조가 본 연구의 최종 솔루션입니다</a:t>
            </a:r>
            <a:r>
              <a:rPr lang="en-US" altLang="ko-KR" dirty="0"/>
              <a:t>."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5691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향후 실험 계획과 이렇게 세팅한 논리적 배경을 말씀드리겠습니다</a:t>
            </a:r>
            <a:r>
              <a:rPr lang="en-US" altLang="ko-KR" dirty="0"/>
              <a:t>.</a:t>
            </a:r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베이스라인으로 </a:t>
            </a:r>
            <a:r>
              <a:rPr lang="en-US" altLang="ko-KR" dirty="0" err="1"/>
              <a:t>SevenNet</a:t>
            </a:r>
            <a:r>
              <a:rPr lang="ko-KR" altLang="en-US" dirty="0"/>
              <a:t>을 메인으로 삼은 이유입니다</a:t>
            </a:r>
            <a:r>
              <a:rPr lang="en-US" altLang="ko-KR" dirty="0"/>
              <a:t>. </a:t>
            </a:r>
            <a:r>
              <a:rPr lang="en-US" altLang="ko-KR" dirty="0" err="1"/>
              <a:t>SevenNet</a:t>
            </a:r>
            <a:r>
              <a:rPr lang="ko-KR" altLang="en-US" dirty="0"/>
              <a:t>은 현재 </a:t>
            </a:r>
            <a:r>
              <a:rPr lang="en-US" altLang="ko-KR" dirty="0"/>
              <a:t>GNN-IP </a:t>
            </a:r>
            <a:r>
              <a:rPr lang="ko-KR" altLang="en-US" dirty="0"/>
              <a:t>중에서도 멀티 </a:t>
            </a:r>
            <a:r>
              <a:rPr lang="en-US" altLang="ko-KR" dirty="0"/>
              <a:t>GPU </a:t>
            </a:r>
            <a:r>
              <a:rPr lang="ko-KR" altLang="en-US" dirty="0"/>
              <a:t>확장이 가장 잘 되어 있는 최신 </a:t>
            </a:r>
            <a:r>
              <a:rPr lang="en-US" altLang="ko-KR" dirty="0"/>
              <a:t>SOTA </a:t>
            </a:r>
            <a:r>
              <a:rPr lang="ko-KR" altLang="en-US" dirty="0"/>
              <a:t>패키지입니다</a:t>
            </a:r>
            <a:r>
              <a:rPr lang="en-US" altLang="ko-KR" dirty="0"/>
              <a:t>. </a:t>
            </a:r>
            <a:r>
              <a:rPr lang="ko-KR" altLang="en-US" dirty="0"/>
              <a:t>시스템 레벨 최적화가 극에 달한 이 모델 위에서도 저희의 기하학적 중복 제거 기법이 유의미한 가속을 이끌어낼 수 있다면</a:t>
            </a:r>
            <a:r>
              <a:rPr lang="en-US" altLang="ko-KR" dirty="0"/>
              <a:t>, </a:t>
            </a:r>
            <a:r>
              <a:rPr lang="ko-KR" altLang="en-US" dirty="0"/>
              <a:t>본 연구의 실효성을 가장 완벽하게 증명하는 셈이 됩니다</a:t>
            </a:r>
            <a:r>
              <a:rPr lang="en-US" altLang="ko-KR" dirty="0"/>
              <a:t>.</a:t>
            </a: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워크로드를 </a:t>
            </a:r>
            <a:r>
              <a:rPr lang="en-US" altLang="ko-KR" dirty="0"/>
              <a:t>MD17 </a:t>
            </a:r>
            <a:r>
              <a:rPr lang="ko-KR" altLang="en-US" dirty="0"/>
              <a:t>같은 소형 분자부터 물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/>
              <a:t>Si3N4 </a:t>
            </a:r>
            <a:r>
              <a:rPr lang="ko-KR" altLang="en-US" dirty="0"/>
              <a:t>같은 고밀도</a:t>
            </a:r>
            <a:r>
              <a:rPr lang="en-US" altLang="ko-KR" dirty="0"/>
              <a:t>(High-density) </a:t>
            </a:r>
            <a:r>
              <a:rPr lang="ko-KR" altLang="en-US" dirty="0"/>
              <a:t>시스템까지 계층적으로 구성했습니다</a:t>
            </a:r>
            <a:r>
              <a:rPr lang="en-US" altLang="ko-KR" dirty="0"/>
              <a:t>. </a:t>
            </a:r>
            <a:r>
              <a:rPr lang="ko-KR" altLang="en-US" dirty="0"/>
              <a:t>그 이유는 그래프의 밀도</a:t>
            </a:r>
            <a:r>
              <a:rPr lang="en-US" altLang="ko-KR" dirty="0"/>
              <a:t>(Sparse vs. Dense)</a:t>
            </a:r>
            <a:r>
              <a:rPr lang="ko-KR" altLang="en-US" dirty="0"/>
              <a:t>에 따라 에지</a:t>
            </a:r>
            <a:r>
              <a:rPr lang="en-US" altLang="ko-KR" dirty="0"/>
              <a:t>(Edge)</a:t>
            </a:r>
            <a:r>
              <a:rPr lang="ko-KR" altLang="en-US" dirty="0"/>
              <a:t>의 개수가 기하급수적으로 달라지기 때문입니다</a:t>
            </a:r>
            <a:r>
              <a:rPr lang="en-US" altLang="ko-KR" dirty="0"/>
              <a:t>. </a:t>
            </a:r>
            <a:r>
              <a:rPr lang="ko-KR" altLang="en-US" dirty="0"/>
              <a:t>밀도가 높을수록 저희가 타깃으로 하는 양방향 에지 중복 연산의 병목이 심해지므로</a:t>
            </a:r>
            <a:r>
              <a:rPr lang="en-US" altLang="ko-KR" dirty="0"/>
              <a:t>, </a:t>
            </a:r>
            <a:r>
              <a:rPr lang="ko-KR" altLang="en-US" dirty="0"/>
              <a:t>밀도별로 저희 기법의 효율을 분리해서 평가하는 것이 필수적입니다</a:t>
            </a:r>
            <a:r>
              <a:rPr lang="en-US" altLang="ko-KR" dirty="0"/>
              <a:t>.</a:t>
            </a:r>
            <a:r>
              <a:rPr lang="ko-KR" altLang="en-US" dirty="0"/>
              <a:t>마지막으로 평가지표입니다</a:t>
            </a:r>
            <a:r>
              <a:rPr lang="en-US" altLang="ko-KR" dirty="0"/>
              <a:t>. **</a:t>
            </a:r>
            <a:r>
              <a:rPr lang="ko-KR" altLang="en-US" dirty="0"/>
              <a:t>추론 시간</a:t>
            </a:r>
            <a:r>
              <a:rPr lang="en-US" altLang="ko-KR" dirty="0"/>
              <a:t>(Inference Time)**</a:t>
            </a:r>
            <a:r>
              <a:rPr lang="ko-KR" altLang="en-US" dirty="0"/>
              <a:t>과 **스케일링</a:t>
            </a:r>
            <a:r>
              <a:rPr lang="en-US" altLang="ko-KR" dirty="0"/>
              <a:t>(Scaling)**</a:t>
            </a:r>
            <a:r>
              <a:rPr lang="ko-KR" altLang="en-US" dirty="0"/>
              <a:t>을 통해 속도 향상을 증명하는 것은 물론이고</a:t>
            </a:r>
            <a:r>
              <a:rPr lang="en-US" altLang="ko-KR" dirty="0"/>
              <a:t>, </a:t>
            </a:r>
            <a:r>
              <a:rPr lang="ko-KR" altLang="en-US" dirty="0"/>
              <a:t>가장 중요한 것은 정확도</a:t>
            </a:r>
            <a:r>
              <a:rPr lang="en-US" altLang="ko-KR" dirty="0"/>
              <a:t>(Accuracy) </a:t>
            </a:r>
            <a:r>
              <a:rPr lang="ko-KR" altLang="en-US" dirty="0"/>
              <a:t>지표입니다</a:t>
            </a:r>
            <a:r>
              <a:rPr lang="en-US" altLang="ko-KR" dirty="0"/>
              <a:t>. </a:t>
            </a:r>
            <a:r>
              <a:rPr lang="ko-KR" altLang="en-US" dirty="0"/>
              <a:t>기존의 알고리즘 경량화 논문들과 달리</a:t>
            </a:r>
            <a:r>
              <a:rPr lang="en-US" altLang="ko-KR" dirty="0"/>
              <a:t>, </a:t>
            </a:r>
            <a:r>
              <a:rPr lang="ko-KR" altLang="en-US" dirty="0"/>
              <a:t>제안하는 </a:t>
            </a:r>
            <a:r>
              <a:rPr lang="en-US" altLang="ko-KR" dirty="0"/>
              <a:t>'Sign-Flip' </a:t>
            </a:r>
            <a:r>
              <a:rPr lang="ko-KR" altLang="en-US" dirty="0"/>
              <a:t>기법은 수학적 수식을 </a:t>
            </a:r>
            <a:r>
              <a:rPr lang="en-US" altLang="ko-KR" dirty="0"/>
              <a:t>100% </a:t>
            </a:r>
            <a:r>
              <a:rPr lang="ko-KR" altLang="en-US" dirty="0"/>
              <a:t>보존하므로 정확도 하락이 단 </a:t>
            </a:r>
            <a:r>
              <a:rPr lang="en-US" altLang="ko-KR" dirty="0"/>
              <a:t>'0'</a:t>
            </a:r>
            <a:r>
              <a:rPr lang="ko-KR" altLang="en-US" dirty="0"/>
              <a:t>도 발생하지 않음을 이 지표를 통해 명확히 보여줄 것입니다</a:t>
            </a:r>
            <a:r>
              <a:rPr lang="en-US" altLang="ko-KR" dirty="0"/>
              <a:t>."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8677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흔히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Spherical Harmonics(SH)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느리다고 하면 삼각함수나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르장드르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다항식의 재귀 호출 때문이라고 생각하기 쉽습니다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SevenNet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e3nn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현대적인 라이브러리들은 이를 이미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$(x, y, z)$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기반의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카르테시안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다항식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(Cartesian Solid Harmonics)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형태로 치환해서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최적화해 두었습니다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다항식의 차수가 곧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Clebsch-Gordan(CG)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결합의 차수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$l$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되는 구조입니다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왜 여전히 병목일까요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다항식 연산 자체가 아무리 빠르더라도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$l$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커질수록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연산량이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늘어나는데 이를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$j$, $j$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양방향에 대해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계산하는 것은 명백한 메모리 및 연산 낭비이기 때문입니다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게다가 이 중복된 데이터는 이어지는 무거운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텐서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곱 연산의 부하를 가중시킵니다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 발표된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FlashTP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같은 훌륭한 연구가 있지만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뒷단의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텐서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(TP)'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자체를 가속할 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앞단의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 계산 문제는 전혀 건드리지 못합니다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6E87F-228F-44B2-B4EE-9BD47B249A9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05583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07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05740" y="165629"/>
            <a:ext cx="11757660" cy="700498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F0F70"/>
                </a:solidFill>
              </a:defRPr>
            </a:lvl1pPr>
          </a:lstStyle>
          <a:p>
            <a:r>
              <a:rPr lang="en-US" altLang="ko-KR" dirty="0"/>
              <a:t>Title Test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05740" y="927088"/>
            <a:ext cx="11757660" cy="5146052"/>
          </a:xfrm>
        </p:spPr>
        <p:txBody>
          <a:bodyPr/>
          <a:lstStyle>
            <a:lvl1pPr marL="228600" indent="-228600">
              <a:lnSpc>
                <a:spcPct val="140000"/>
              </a:lnSpc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</a:defRPr>
            </a:lvl1pPr>
            <a:lvl2pPr marL="576000" indent="-228600">
              <a:lnSpc>
                <a:spcPct val="140000"/>
              </a:lnSpc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0" y="6457520"/>
            <a:ext cx="12192000" cy="400480"/>
          </a:xfrm>
          <a:prstGeom prst="rect">
            <a:avLst/>
          </a:prstGeom>
          <a:solidFill>
            <a:srgbClr val="0F0F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253126" y="6557730"/>
            <a:ext cx="3283426" cy="192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250" b="0" i="0" dirty="0">
                <a:solidFill>
                  <a:schemeClr val="bg1"/>
                </a:solidFill>
                <a:latin typeface="+mn-lt"/>
                <a:cs typeface="Lato" panose="020F0502020204030203" pitchFamily="34" charset="0"/>
              </a:rPr>
              <a:t>Distributed and Parallel Computing Lab (WISE)</a:t>
            </a:r>
            <a:endParaRPr lang="ko-KR" altLang="en-US" sz="1250" b="0" i="0" dirty="0">
              <a:solidFill>
                <a:schemeClr val="bg1"/>
              </a:solidFill>
              <a:latin typeface="+mn-lt"/>
              <a:cs typeface="Lato" panose="020F0502020204030203" pitchFamily="34" charset="0"/>
            </a:endParaRPr>
          </a:p>
        </p:txBody>
      </p:sp>
      <p:cxnSp>
        <p:nvCxnSpPr>
          <p:cNvPr id="12" name="Shape 60"/>
          <p:cNvCxnSpPr/>
          <p:nvPr userDrawn="1"/>
        </p:nvCxnSpPr>
        <p:spPr>
          <a:xfrm>
            <a:off x="205740" y="797547"/>
            <a:ext cx="11757660" cy="0"/>
          </a:xfrm>
          <a:prstGeom prst="straightConnector1">
            <a:avLst/>
          </a:prstGeom>
          <a:noFill/>
          <a:ln w="25400" cap="flat" cmpd="sng">
            <a:solidFill>
              <a:srgbClr val="2C2C5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직선 연결선 4"/>
          <p:cNvCxnSpPr/>
          <p:nvPr userDrawn="1"/>
        </p:nvCxnSpPr>
        <p:spPr>
          <a:xfrm>
            <a:off x="11617075" y="6503723"/>
            <a:ext cx="0" cy="2964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11697958" y="6465657"/>
            <a:ext cx="44324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50">
                <a:solidFill>
                  <a:schemeClr val="bg1"/>
                </a:solidFill>
              </a:defRPr>
            </a:lvl1pPr>
          </a:lstStyle>
          <a:p>
            <a:fld id="{765CECA1-5C9B-4693-A1BD-3F65156FCD02}" type="slidenum">
              <a:rPr lang="ko-KR" altLang="en-US" smtClean="0"/>
              <a:pPr/>
              <a:t>‹#›</a:t>
            </a:fld>
            <a:endParaRPr lang="ko-KR" altLang="en-US" sz="1250" dirty="0"/>
          </a:p>
        </p:txBody>
      </p:sp>
    </p:spTree>
    <p:extLst>
      <p:ext uri="{BB962C8B-B14F-4D97-AF65-F5344CB8AC3E}">
        <p14:creationId xmlns:p14="http://schemas.microsoft.com/office/powerpoint/2010/main" val="14100589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CECA1-5C9B-4693-A1BD-3F65156FC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28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23929" y="1955827"/>
            <a:ext cx="113441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0F0F70"/>
                </a:solidFill>
                <a:latin typeface="Roboto Black" panose="02000000000000000000" pitchFamily="2" charset="0"/>
              </a:rPr>
              <a:t>GNN-IP</a:t>
            </a:r>
            <a:r>
              <a:rPr lang="ko-KR" altLang="en-US" sz="4400" b="1" dirty="0">
                <a:solidFill>
                  <a:srgbClr val="0F0F70"/>
                </a:solidFill>
                <a:latin typeface="Roboto Black" panose="02000000000000000000" pitchFamily="2" charset="0"/>
              </a:rPr>
              <a:t> </a:t>
            </a:r>
            <a:r>
              <a:rPr lang="en-US" altLang="ko-KR" sz="4400" b="1" dirty="0">
                <a:solidFill>
                  <a:srgbClr val="0F0F70"/>
                </a:solidFill>
                <a:latin typeface="Roboto Black" panose="02000000000000000000" pitchFamily="2" charset="0"/>
              </a:rPr>
              <a:t>Inference</a:t>
            </a:r>
            <a:r>
              <a:rPr lang="ko-KR" altLang="en-US" sz="4400" b="1" dirty="0">
                <a:solidFill>
                  <a:srgbClr val="0F0F70"/>
                </a:solidFill>
                <a:latin typeface="Roboto Black" panose="02000000000000000000" pitchFamily="2" charset="0"/>
              </a:rPr>
              <a:t> </a:t>
            </a:r>
            <a:r>
              <a:rPr lang="en-US" altLang="ko-KR" sz="4400" b="1" dirty="0">
                <a:solidFill>
                  <a:srgbClr val="0F0F70"/>
                </a:solidFill>
                <a:latin typeface="Roboto Black" panose="02000000000000000000" pitchFamily="2" charset="0"/>
              </a:rPr>
              <a:t>Optimization</a:t>
            </a:r>
          </a:p>
          <a:p>
            <a:pPr algn="ctr"/>
            <a:r>
              <a:rPr lang="en-US" altLang="ko-KR" sz="4400" b="1" dirty="0">
                <a:solidFill>
                  <a:srgbClr val="0F0F70"/>
                </a:solidFill>
                <a:latin typeface="Roboto Black" panose="02000000000000000000" pitchFamily="2" charset="0"/>
              </a:rPr>
              <a:t>Reconstruction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51521" y="4079485"/>
            <a:ext cx="10688956" cy="10411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200" b="1" dirty="0" err="1">
                <a:latin typeface="Lato" panose="020F0502020204030203" pitchFamily="34" charset="0"/>
                <a:ea typeface="Lato"/>
                <a:cs typeface="Lato"/>
              </a:rPr>
              <a:t>Minchang</a:t>
            </a:r>
            <a:r>
              <a:rPr lang="en-US" altLang="ko-KR" sz="2200" b="1" dirty="0">
                <a:latin typeface="Lato" panose="020F0502020204030203" pitchFamily="34" charset="0"/>
                <a:ea typeface="Lato"/>
                <a:cs typeface="Lato"/>
              </a:rPr>
              <a:t> Kim</a:t>
            </a:r>
          </a:p>
          <a:p>
            <a:pPr algn="ctr">
              <a:lnSpc>
                <a:spcPct val="150000"/>
              </a:lnSpc>
            </a:pPr>
            <a:r>
              <a:rPr lang="en-US" altLang="ko-KR" sz="2200" dirty="0">
                <a:latin typeface="Lato" panose="020F0502020204030203" pitchFamily="34" charset="0"/>
                <a:ea typeface="Lato"/>
                <a:cs typeface="Lato"/>
              </a:rPr>
              <a:t>2026-03-30</a:t>
            </a: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5029040" y="1141749"/>
            <a:ext cx="2133918" cy="44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0153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latinLnBrk="0"/>
            <a:r>
              <a:rPr lang="en-US" altLang="ko-KR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WISE Seminar</a:t>
            </a:r>
          </a:p>
        </p:txBody>
      </p:sp>
    </p:spTree>
    <p:extLst>
      <p:ext uri="{BB962C8B-B14F-4D97-AF65-F5344CB8AC3E}">
        <p14:creationId xmlns:p14="http://schemas.microsoft.com/office/powerpoint/2010/main" val="3358037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65F9F-3802-CEC0-2F5F-12B96B23C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C06746-59C3-A6A4-35E2-FEB8FF32690C}"/>
              </a:ext>
            </a:extLst>
          </p:cNvPr>
          <p:cNvSpPr txBox="1"/>
          <p:nvPr/>
        </p:nvSpPr>
        <p:spPr>
          <a:xfrm>
            <a:off x="751522" y="1767329"/>
            <a:ext cx="10688956" cy="446705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Lato" panose="020F0502020204030203" pitchFamily="34" charset="0"/>
                <a:ea typeface="Lato"/>
                <a:cs typeface="Lato"/>
              </a:rPr>
              <a:t>GNN-IP R&amp;D Proposal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Lato" panose="020F0502020204030203" pitchFamily="34" charset="0"/>
                <a:ea typeface="Lato"/>
                <a:cs typeface="Lato"/>
              </a:rPr>
              <a:t>Equivariant</a:t>
            </a:r>
            <a:r>
              <a:rPr lang="ko-KR" altLang="en-US" sz="2400" b="1" dirty="0">
                <a:latin typeface="Lato" panose="020F0502020204030203" pitchFamily="34" charset="0"/>
                <a:ea typeface="Lato"/>
                <a:cs typeface="Lato"/>
              </a:rPr>
              <a:t> </a:t>
            </a:r>
            <a:r>
              <a:rPr lang="en-US" altLang="ko-KR" sz="2400" b="1" dirty="0">
                <a:latin typeface="Lato" panose="020F0502020204030203" pitchFamily="34" charset="0"/>
                <a:ea typeface="Lato"/>
                <a:cs typeface="Lato"/>
              </a:rPr>
              <a:t>Model </a:t>
            </a:r>
            <a:r>
              <a:rPr lang="en-US" altLang="ko-KR" sz="2400" b="1" dirty="0" err="1">
                <a:latin typeface="Lato" panose="020F0502020204030203" pitchFamily="34" charset="0"/>
                <a:ea typeface="Lato"/>
                <a:cs typeface="Lato"/>
              </a:rPr>
              <a:t>PipeLine</a:t>
            </a:r>
            <a:endParaRPr lang="en-US" altLang="ko-KR" sz="2400" b="1" dirty="0">
              <a:latin typeface="Lato" panose="020F0502020204030203" pitchFamily="34" charset="0"/>
              <a:ea typeface="Lato"/>
              <a:cs typeface="La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Lato" panose="020F0502020204030203" pitchFamily="34" charset="0"/>
                <a:ea typeface="Lato"/>
                <a:cs typeface="Lato"/>
              </a:rPr>
              <a:t>Problem &amp; Challenge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Lato" panose="020F0502020204030203" pitchFamily="34" charset="0"/>
                <a:ea typeface="Lato"/>
                <a:cs typeface="Lato"/>
              </a:rPr>
              <a:t>Related Works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Lato" panose="020F0502020204030203" pitchFamily="34" charset="0"/>
                <a:ea typeface="Lato"/>
                <a:cs typeface="Lato"/>
              </a:rPr>
              <a:t>Proposed Method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Lato" panose="020F0502020204030203" pitchFamily="34" charset="0"/>
                <a:ea typeface="Lato"/>
                <a:cs typeface="Lato"/>
              </a:rPr>
              <a:t>Experiment Plan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Lato" panose="020F0502020204030203" pitchFamily="34" charset="0"/>
                <a:ea typeface="Lato"/>
                <a:cs typeface="Lato"/>
              </a:rPr>
              <a:t>Discussion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b="1" dirty="0">
              <a:latin typeface="Lato" panose="020F0502020204030203" pitchFamily="34" charset="0"/>
              <a:ea typeface="Lato"/>
              <a:cs typeface="Lato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D8FDEA01-9FDC-E032-B9AA-77436CC0E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6144" y="569914"/>
            <a:ext cx="4799712" cy="630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0153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latinLnBrk="0"/>
            <a:r>
              <a:rPr lang="en-US" altLang="ko-KR" sz="3600" b="1" dirty="0"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978376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1717F-7D81-3B23-3AFE-C5245B4B2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DE2019-5A2F-5AA4-91A7-622FDAD4D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GNN-IP R&amp;D Proposal</a:t>
            </a:r>
            <a:endParaRPr lang="ko-KR" altLang="en-US" dirty="0"/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97C52716-8B8A-1D52-25F2-9C69B5B1D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9CA3C9-848B-45FE-4F42-BE2E0CB0C684}"/>
              </a:ext>
            </a:extLst>
          </p:cNvPr>
          <p:cNvSpPr txBox="1"/>
          <p:nvPr/>
        </p:nvSpPr>
        <p:spPr>
          <a:xfrm>
            <a:off x="314585" y="955853"/>
            <a:ext cx="7235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000" b="1" dirty="0"/>
              <a:t>Year 3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: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Optimization of GNN-IP Kernels and Graph Computation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4B233-D7F0-D4B4-9858-B76190E4AC09}"/>
              </a:ext>
            </a:extLst>
          </p:cNvPr>
          <p:cNvSpPr txBox="1"/>
          <p:nvPr/>
        </p:nvSpPr>
        <p:spPr>
          <a:xfrm>
            <a:off x="3652355" y="5902147"/>
            <a:ext cx="5163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b="1" i="1" dirty="0">
                <a:solidFill>
                  <a:srgbClr val="FF0000"/>
                </a:solidFill>
              </a:rPr>
              <a:t>GNN-IP kernel level optimization</a:t>
            </a:r>
            <a:endParaRPr kumimoji="1" lang="ko-KR" altLang="en-US" sz="2800" b="1" i="1" dirty="0">
              <a:solidFill>
                <a:srgbClr val="FF000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66940E-0E6A-4CDA-CD07-62E6DEDF87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49" y="1668610"/>
            <a:ext cx="5269038" cy="297381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0424C91-B06E-11C1-084F-8FC0E77EDC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065" y="1668610"/>
            <a:ext cx="5939129" cy="29738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C7D0C31-BF0E-DE6C-4525-A89A0351DC98}"/>
              </a:ext>
            </a:extLst>
          </p:cNvPr>
          <p:cNvSpPr txBox="1"/>
          <p:nvPr/>
        </p:nvSpPr>
        <p:spPr>
          <a:xfrm>
            <a:off x="568680" y="4955069"/>
            <a:ext cx="5085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b="1" dirty="0"/>
              <a:t>Kernel optimization for non–tensor product (Non-TP) operations</a:t>
            </a:r>
            <a:endParaRPr kumimoji="1" lang="ko-KR" alt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FDDE3-E006-BB1C-E619-7DBB55503758}"/>
              </a:ext>
            </a:extLst>
          </p:cNvPr>
          <p:cNvSpPr txBox="1"/>
          <p:nvPr/>
        </p:nvSpPr>
        <p:spPr>
          <a:xfrm>
            <a:off x="6735602" y="4955069"/>
            <a:ext cx="5163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b="1" dirty="0">
                <a:latin typeface="+mn-ea"/>
              </a:rPr>
              <a:t>Elimination of redundant computations through restructuring of input representation</a:t>
            </a:r>
            <a:endParaRPr kumimoji="1"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06075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FB3B-4EC2-15FC-0AAD-8A71579C5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9921D2-F8FB-7C30-C805-0A3DC0B46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GNN-IP R&amp;D Proposal</a:t>
            </a:r>
            <a:endParaRPr lang="ko-KR" altLang="en-US" dirty="0"/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F779244E-8324-9E38-A9CD-0185C2332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7C4074-A018-E59E-6830-3E7C2ECF1303}"/>
              </a:ext>
            </a:extLst>
          </p:cNvPr>
          <p:cNvSpPr txBox="1"/>
          <p:nvPr/>
        </p:nvSpPr>
        <p:spPr>
          <a:xfrm>
            <a:off x="465313" y="4357163"/>
            <a:ext cx="5630687" cy="965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ea typeface="맑은 고딕" panose="020B0503020000020004" pitchFamily="50" charset="-127"/>
              </a:rPr>
              <a:t>Design of a training-free adaptive skipping policy leveraging temporal redundancy</a:t>
            </a:r>
            <a:endParaRPr lang="en-US" altLang="ko-KR" sz="2000" dirty="0"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76D67C-A933-701C-5F79-E13F042F475E}"/>
              </a:ext>
            </a:extLst>
          </p:cNvPr>
          <p:cNvSpPr txBox="1"/>
          <p:nvPr/>
        </p:nvSpPr>
        <p:spPr>
          <a:xfrm>
            <a:off x="556638" y="5817060"/>
            <a:ext cx="4732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b="1" i="1" dirty="0">
                <a:solidFill>
                  <a:srgbClr val="FF0000"/>
                </a:solidFill>
              </a:rPr>
              <a:t>GNN-IP runtime Optimization</a:t>
            </a:r>
            <a:endParaRPr kumimoji="1" lang="ko-KR" altLang="en-US" sz="2800" b="1" i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97874-E46D-C743-EC56-DA54CB3B1120}"/>
              </a:ext>
            </a:extLst>
          </p:cNvPr>
          <p:cNvSpPr txBox="1"/>
          <p:nvPr/>
        </p:nvSpPr>
        <p:spPr>
          <a:xfrm>
            <a:off x="205740" y="959904"/>
            <a:ext cx="50832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b="1" dirty="0"/>
              <a:t>Year 4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: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Optimization of GNN-IP Kernels and Graph Computation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0AB7F4-0B96-968A-CB44-E67B44B318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4" y="1853901"/>
            <a:ext cx="5204955" cy="228988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9DE4D9D-E591-4E14-0539-6A5CAD3BA7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781" y="2116477"/>
            <a:ext cx="5913798" cy="17647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8888F0-5F7F-E531-FCF7-FA0700E8F9F9}"/>
              </a:ext>
            </a:extLst>
          </p:cNvPr>
          <p:cNvSpPr txBox="1"/>
          <p:nvPr/>
        </p:nvSpPr>
        <p:spPr>
          <a:xfrm>
            <a:off x="6271513" y="4357163"/>
            <a:ext cx="5213227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ea typeface="맑은 고딕" panose="020B0503020000020004" pitchFamily="50" charset="-127"/>
              </a:rPr>
              <a:t>Scalable GNN-IP inference acceleration for multi-GPU and multi-node simulation settings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02A914-BF4D-5097-D955-9ECBD0D617A3}"/>
              </a:ext>
            </a:extLst>
          </p:cNvPr>
          <p:cNvSpPr txBox="1"/>
          <p:nvPr/>
        </p:nvSpPr>
        <p:spPr>
          <a:xfrm>
            <a:off x="6005781" y="835767"/>
            <a:ext cx="5831023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ea typeface="맑은 고딕" panose="020B0503020000020004" pitchFamily="50" charset="-127"/>
              </a:rPr>
              <a:t>Year 5:</a:t>
            </a:r>
            <a:r>
              <a:rPr lang="ko-KR" altLang="en-US" sz="2000" b="1" dirty="0">
                <a:ea typeface="맑은 고딕" panose="020B0503020000020004" pitchFamily="50" charset="-127"/>
              </a:rPr>
              <a:t> </a:t>
            </a:r>
            <a:r>
              <a:rPr lang="en-US" altLang="ko-KR" sz="2000" b="1" dirty="0">
                <a:ea typeface="맑은 고딕" panose="020B0503020000020004" pitchFamily="50" charset="-127"/>
              </a:rPr>
              <a:t>Acceleration of GNN-IP Inference in Multi-GPU / Multi-node Environments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68321E-BA3C-A412-6F37-67354280D338}"/>
              </a:ext>
            </a:extLst>
          </p:cNvPr>
          <p:cNvSpPr txBox="1"/>
          <p:nvPr/>
        </p:nvSpPr>
        <p:spPr>
          <a:xfrm>
            <a:off x="5615054" y="5817060"/>
            <a:ext cx="6526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b="1" i="1" dirty="0">
                <a:solidFill>
                  <a:srgbClr val="FF0000"/>
                </a:solidFill>
              </a:rPr>
              <a:t>GNN-IP </a:t>
            </a:r>
            <a:r>
              <a:rPr kumimoji="1" lang="en-US" altLang="ko-KR" sz="2800" b="1" i="1" dirty="0" err="1">
                <a:solidFill>
                  <a:srgbClr val="FF0000"/>
                </a:solidFill>
              </a:rPr>
              <a:t>Distiributed</a:t>
            </a:r>
            <a:r>
              <a:rPr kumimoji="1" lang="en-US" altLang="ko-KR" sz="2800" b="1" i="1" dirty="0">
                <a:solidFill>
                  <a:srgbClr val="FF0000"/>
                </a:solidFill>
              </a:rPr>
              <a:t> System Optimization</a:t>
            </a:r>
            <a:endParaRPr kumimoji="1" lang="ko-KR" altLang="en-US" sz="28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498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01659-D0BC-A1B6-12C2-AB31E24E5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5F5E72-A91D-1180-13C0-65C3BA665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Equivariant Model </a:t>
            </a:r>
            <a:r>
              <a:rPr lang="en-US" altLang="ko-KR" dirty="0" err="1"/>
              <a:t>PipeLine</a:t>
            </a:r>
            <a:r>
              <a:rPr lang="en-US" altLang="ko-KR" dirty="0"/>
              <a:t> (</a:t>
            </a:r>
            <a:r>
              <a:rPr lang="en-US" altLang="ko-KR" dirty="0" err="1"/>
              <a:t>NequIP</a:t>
            </a:r>
            <a:r>
              <a:rPr lang="en-US" altLang="ko-KR" dirty="0"/>
              <a:t>)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D934FD-8444-9F33-B1BF-02D928337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5</a:t>
            </a:fld>
            <a:endParaRPr lang="ko-KR" altLang="en-US" sz="125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09AB6C0-B06A-0BAF-5E91-A47BD31D3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14" y="1145754"/>
            <a:ext cx="11851972" cy="5211779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C250CCA-314A-72F9-9E42-F5E3839F9494}"/>
              </a:ext>
            </a:extLst>
          </p:cNvPr>
          <p:cNvSpPr txBox="1">
            <a:spLocks/>
          </p:cNvSpPr>
          <p:nvPr/>
        </p:nvSpPr>
        <p:spPr>
          <a:xfrm>
            <a:off x="0" y="6497463"/>
            <a:ext cx="11757660" cy="10985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14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28600" algn="l" defTabSz="914400" rtl="0" eaLnBrk="1" latinLnBrk="1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ko-KR" sz="800" dirty="0" err="1">
                <a:solidFill>
                  <a:schemeClr val="bg1"/>
                </a:solidFill>
              </a:rPr>
              <a:t>NequIP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en-US" altLang="ko-KR" sz="800" dirty="0" err="1">
                <a:solidFill>
                  <a:schemeClr val="bg1"/>
                </a:solidFill>
              </a:rPr>
              <a:t>Batzner</a:t>
            </a:r>
            <a:r>
              <a:rPr lang="en-US" altLang="ko-KR" sz="800" dirty="0">
                <a:solidFill>
                  <a:schemeClr val="bg1"/>
                </a:solidFill>
              </a:rPr>
              <a:t>, S. et al., E(3)-equivariant graph neural networks for data-efficient and accurate interatomic potentials. Nat Commun 13, 2453 (2022).</a:t>
            </a:r>
          </a:p>
        </p:txBody>
      </p:sp>
    </p:spTree>
    <p:extLst>
      <p:ext uri="{BB962C8B-B14F-4D97-AF65-F5344CB8AC3E}">
        <p14:creationId xmlns:p14="http://schemas.microsoft.com/office/powerpoint/2010/main" val="3080800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8233B-85DE-DB52-0793-28A726EF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A0B2C2-BF94-E944-2FC1-7D35E381A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440F44-81D2-EF61-DCA4-A54F14766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6</a:t>
            </a:fld>
            <a:endParaRPr lang="ko-KR" altLang="en-US" sz="1250" dirty="0"/>
          </a:p>
        </p:txBody>
      </p:sp>
      <p:sp>
        <p:nvSpPr>
          <p:cNvPr id="6" name="AutoShape 4" descr="출력 이미지">
            <a:extLst>
              <a:ext uri="{FF2B5EF4-FFF2-40B4-BE49-F238E27FC236}">
                <a16:creationId xmlns:a16="http://schemas.microsoft.com/office/drawing/2014/main" id="{E4C193FB-35DC-6BCF-DE80-03D85A90BED4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6346480" y="1052997"/>
            <a:ext cx="5351478" cy="546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en" altLang="ko-KR" sz="2000" b="1" dirty="0"/>
              <a:t>Pair-invariant </a:t>
            </a:r>
          </a:p>
          <a:p>
            <a:pPr lvl="1">
              <a:lnSpc>
                <a:spcPct val="100000"/>
              </a:lnSpc>
            </a:pPr>
            <a:r>
              <a:rPr lang="en-US" altLang="ko-KR" sz="2000" b="1" dirty="0"/>
              <a:t>D</a:t>
            </a:r>
            <a:r>
              <a:rPr lang="en" altLang="ko-KR" sz="2000" b="1" dirty="0"/>
              <a:t>istance</a:t>
            </a:r>
          </a:p>
          <a:p>
            <a:pPr lvl="1">
              <a:lnSpc>
                <a:spcPct val="100000"/>
              </a:lnSpc>
            </a:pPr>
            <a:r>
              <a:rPr lang="en" altLang="ko-KR" sz="2000" b="1" dirty="0"/>
              <a:t>Radial basis</a:t>
            </a:r>
          </a:p>
          <a:p>
            <a:pPr lvl="1">
              <a:lnSpc>
                <a:spcPct val="100000"/>
              </a:lnSpc>
            </a:pPr>
            <a:r>
              <a:rPr lang="en" altLang="ko-KR" sz="2000" b="1" dirty="0"/>
              <a:t>Cutoff</a:t>
            </a:r>
          </a:p>
          <a:p>
            <a:pPr>
              <a:lnSpc>
                <a:spcPct val="100000"/>
              </a:lnSpc>
            </a:pPr>
            <a:r>
              <a:rPr lang="en" altLang="ko-KR" sz="2000" b="1" dirty="0"/>
              <a:t>Direction-dependent </a:t>
            </a:r>
          </a:p>
          <a:p>
            <a:pPr lvl="1">
              <a:lnSpc>
                <a:spcPct val="100000"/>
              </a:lnSpc>
            </a:pPr>
            <a:r>
              <a:rPr lang="en" altLang="ko-KR" sz="2000" b="1" dirty="0"/>
              <a:t>Spherical harmonics</a:t>
            </a:r>
          </a:p>
          <a:p>
            <a:pPr lvl="1">
              <a:lnSpc>
                <a:spcPct val="100000"/>
              </a:lnSpc>
            </a:pPr>
            <a:r>
              <a:rPr lang="en-US" altLang="ko-KR" sz="2000" b="1" dirty="0"/>
              <a:t>W</a:t>
            </a:r>
            <a:r>
              <a:rPr lang="en" altLang="ko-KR" sz="2000" b="1" dirty="0"/>
              <a:t>eighted filter (NequIP)</a:t>
            </a:r>
          </a:p>
          <a:p>
            <a:pPr>
              <a:lnSpc>
                <a:spcPct val="100000"/>
              </a:lnSpc>
            </a:pPr>
            <a:r>
              <a:rPr lang="en" altLang="ko-KR" sz="2000" b="1" dirty="0"/>
              <a:t>Non-reusable</a:t>
            </a:r>
          </a:p>
          <a:p>
            <a:pPr lvl="1">
              <a:lnSpc>
                <a:spcPct val="100000"/>
              </a:lnSpc>
            </a:pPr>
            <a:r>
              <a:rPr lang="en-US" altLang="ko-KR" sz="2000" b="1" dirty="0"/>
              <a:t>M</a:t>
            </a:r>
            <a:r>
              <a:rPr lang="en" altLang="ko-KR" sz="2000" b="1" dirty="0"/>
              <a:t>essage</a:t>
            </a:r>
          </a:p>
          <a:p>
            <a:pPr lvl="1">
              <a:lnSpc>
                <a:spcPct val="100000"/>
              </a:lnSpc>
            </a:pPr>
            <a:r>
              <a:rPr lang="en" altLang="ko-KR" sz="2000" b="1" dirty="0"/>
              <a:t>Tensor product</a:t>
            </a:r>
          </a:p>
          <a:p>
            <a:pPr>
              <a:lnSpc>
                <a:spcPct val="100000"/>
              </a:lnSpc>
            </a:pPr>
            <a:r>
              <a:rPr lang="en" altLang="ko-KR" sz="2000" b="1" dirty="0">
                <a:solidFill>
                  <a:srgbClr val="FF0000"/>
                </a:solidFill>
              </a:rPr>
              <a:t>Reconstruct the data and computation flow while preserving the original GNN-IP formulation and learned parameters.</a:t>
            </a:r>
          </a:p>
          <a:p>
            <a:pPr>
              <a:lnSpc>
                <a:spcPct val="100000"/>
              </a:lnSpc>
            </a:pPr>
            <a:endParaRPr lang="ko-KR" altLang="en-US" sz="2000" b="1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B6C48932-351F-585E-824E-7554A2B816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344" r="46585" b="19005"/>
          <a:stretch>
            <a:fillRect/>
          </a:stretch>
        </p:blipFill>
        <p:spPr>
          <a:xfrm>
            <a:off x="303626" y="857361"/>
            <a:ext cx="5599612" cy="560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85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E5486-506F-B5B5-CFAC-29F7AAA68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Challenge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C61476-21DD-AB39-703A-7359EC83A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7</a:t>
            </a:fld>
            <a:endParaRPr lang="ko-KR" altLang="en-US" sz="1250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8048DA1-E080-2B9F-3979-5DDF6870B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70" y="1490215"/>
            <a:ext cx="11757660" cy="4351353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US" altLang="ko-KR" b="1" dirty="0">
                <a:latin typeface="+mn-ea"/>
              </a:rPr>
              <a:t>Structural Inefficiency: Edge-wise Redundancy</a:t>
            </a:r>
          </a:p>
          <a:p>
            <a:pPr lvl="1"/>
            <a:r>
              <a:rPr lang="en-US" altLang="ko-KR" sz="2400" b="1" dirty="0">
                <a:latin typeface="+mn-ea"/>
              </a:rPr>
              <a:t>Redundant Geometric Computation</a:t>
            </a:r>
          </a:p>
          <a:p>
            <a:pPr lvl="2"/>
            <a:r>
              <a:rPr lang="en-US" altLang="ko-KR" dirty="0">
                <a:latin typeface="+mn-ea"/>
              </a:rPr>
              <a:t>Standard </a:t>
            </a:r>
            <a:r>
              <a:rPr lang="en-US" altLang="ko-KR" dirty="0" err="1">
                <a:latin typeface="+mn-ea"/>
              </a:rPr>
              <a:t>NequIP</a:t>
            </a:r>
            <a:r>
              <a:rPr lang="en-US" altLang="ko-KR" dirty="0">
                <a:latin typeface="+mn-ea"/>
              </a:rPr>
              <a:t> processes each directed edge (</a:t>
            </a:r>
            <a:r>
              <a:rPr lang="en-US" altLang="ko-KR" dirty="0" err="1">
                <a:latin typeface="+mn-ea"/>
              </a:rPr>
              <a:t>i</a:t>
            </a:r>
            <a:r>
              <a:rPr lang="en-US" altLang="ko-KR" dirty="0">
                <a:latin typeface="+mn-ea"/>
              </a:rPr>
              <a:t> to j and j to </a:t>
            </a:r>
            <a:r>
              <a:rPr lang="en-US" altLang="ko-KR" dirty="0" err="1">
                <a:latin typeface="+mn-ea"/>
              </a:rPr>
              <a:t>i</a:t>
            </a:r>
            <a:r>
              <a:rPr lang="en-US" altLang="ko-KR" dirty="0">
                <a:latin typeface="+mn-ea"/>
              </a:rPr>
              <a:t>) independently, leading to duplicated calculations for distance and radial basis</a:t>
            </a:r>
          </a:p>
          <a:p>
            <a:pPr lvl="1"/>
            <a:r>
              <a:rPr lang="en-US" altLang="ko-KR" sz="2400" b="1" dirty="0">
                <a:latin typeface="+mn-ea"/>
              </a:rPr>
              <a:t>Pair-wise </a:t>
            </a:r>
            <a:r>
              <a:rPr lang="en-US" altLang="ko-KR" sz="2400" b="1" dirty="0" err="1">
                <a:latin typeface="+mn-ea"/>
              </a:rPr>
              <a:t>Reconsturing</a:t>
            </a:r>
            <a:endParaRPr lang="en-US" altLang="ko-KR" sz="2400" b="1" dirty="0">
              <a:latin typeface="+mn-ea"/>
            </a:endParaRPr>
          </a:p>
          <a:p>
            <a:pPr lvl="2"/>
            <a:r>
              <a:rPr lang="en-US" altLang="ko-KR" dirty="0">
                <a:latin typeface="+mn-ea"/>
              </a:rPr>
              <a:t>Input flow must be restructured to Pair-based to enable "Compute once, reuse via sign flip"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65508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1C71F-4704-8CB1-1CA8-1D9D78075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D0CF4E-E3A0-E204-9D28-C1974DCE9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Challenge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0EAA8E-EAE5-1F77-8531-90ECCB1F1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8</a:t>
            </a:fld>
            <a:endParaRPr lang="ko-KR" altLang="en-US" sz="1250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A78149-CC4F-D8D8-71E8-B93264893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70" y="1540793"/>
            <a:ext cx="11757660" cy="44725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b="1" dirty="0">
                <a:latin typeface="+mn-ea"/>
              </a:rPr>
              <a:t>2.   Integration of </a:t>
            </a:r>
            <a:r>
              <a:rPr lang="en-US" altLang="ko-KR" b="1" dirty="0" err="1">
                <a:latin typeface="+mn-ea"/>
              </a:rPr>
              <a:t>FlashTP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&amp;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JIT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Compilation</a:t>
            </a:r>
          </a:p>
          <a:p>
            <a:pPr lvl="1"/>
            <a:r>
              <a:rPr lang="en-US" altLang="ko-KR" sz="2400" b="1" dirty="0">
                <a:latin typeface="+mn-ea"/>
              </a:rPr>
              <a:t>Synergy with </a:t>
            </a:r>
            <a:r>
              <a:rPr lang="en-US" altLang="ko-KR" sz="2400" b="1" dirty="0" err="1">
                <a:latin typeface="+mn-ea"/>
              </a:rPr>
              <a:t>FlashTP</a:t>
            </a:r>
            <a:endParaRPr lang="en-US" altLang="ko-KR" sz="2400" b="1" dirty="0">
              <a:latin typeface="+mn-ea"/>
            </a:endParaRPr>
          </a:p>
          <a:p>
            <a:pPr lvl="2"/>
            <a:r>
              <a:rPr lang="en-US" altLang="ko-KR" dirty="0">
                <a:latin typeface="+mn-ea"/>
              </a:rPr>
              <a:t>Beyond simple TP acceleration, the method requires tight integration of </a:t>
            </a:r>
            <a:r>
              <a:rPr lang="en-US" altLang="ko-KR" dirty="0" err="1">
                <a:latin typeface="+mn-ea"/>
              </a:rPr>
              <a:t>FlashTP</a:t>
            </a:r>
            <a:r>
              <a:rPr lang="en-US" altLang="ko-KR" dirty="0">
                <a:latin typeface="+mn-ea"/>
              </a:rPr>
              <a:t>-style fused kernels with pair-wise reuse</a:t>
            </a:r>
          </a:p>
          <a:p>
            <a:pPr lvl="1"/>
            <a:r>
              <a:rPr lang="en-US" altLang="ko-KR" sz="2400" b="1" dirty="0">
                <a:latin typeface="+mn-ea"/>
              </a:rPr>
              <a:t>High Implementation Difficulty</a:t>
            </a:r>
          </a:p>
          <a:p>
            <a:pPr lvl="2"/>
            <a:r>
              <a:rPr lang="en-US" altLang="ko-KR" dirty="0">
                <a:latin typeface="+mn-ea"/>
              </a:rPr>
              <a:t>JIT (Just-In-Time) Compilation: Generating and compiling graph-specific CUDA/Triton code at runtime</a:t>
            </a:r>
          </a:p>
          <a:p>
            <a:pPr lvl="2"/>
            <a:r>
              <a:rPr lang="en-US" altLang="ko-KR" dirty="0">
                <a:latin typeface="+mn-ea"/>
              </a:rPr>
              <a:t>Dynamic Topology: Significant challenge in building optimized kernels tailored to varying graph structures during inference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0975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CA24E-876A-1B7D-0D20-D81DFCA50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216E1-E25A-05D3-2904-30E39D5A3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Related Work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0BAE29-D28B-F605-2410-AAC56825B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9</a:t>
            </a:fld>
            <a:endParaRPr lang="ko-KR" altLang="en-US" sz="1250" dirty="0"/>
          </a:p>
        </p:txBody>
      </p:sp>
      <p:sp>
        <p:nvSpPr>
          <p:cNvPr id="6" name="AutoShape 4" descr="출력 이미지">
            <a:extLst>
              <a:ext uri="{FF2B5EF4-FFF2-40B4-BE49-F238E27FC236}">
                <a16:creationId xmlns:a16="http://schemas.microsoft.com/office/drawing/2014/main" id="{FB765422-01A1-573D-CA4B-C65366D9D2BC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387802" y="935621"/>
            <a:ext cx="11480347" cy="5146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b="1" dirty="0" err="1"/>
              <a:t>FlashTP</a:t>
            </a:r>
            <a:r>
              <a:rPr lang="en-US" altLang="ko-KR" b="1" dirty="0"/>
              <a:t>, </a:t>
            </a:r>
            <a:r>
              <a:rPr lang="en-US" altLang="ko-KR" b="1" dirty="0" err="1"/>
              <a:t>SevenNet</a:t>
            </a:r>
            <a:r>
              <a:rPr lang="en-US" altLang="ko-KR" b="1" dirty="0"/>
              <a:t> : System-level Acceleration</a:t>
            </a:r>
          </a:p>
          <a:p>
            <a:pPr lvl="1"/>
            <a:r>
              <a:rPr lang="en-US" altLang="ko-KR" sz="2000" b="1" dirty="0"/>
              <a:t>Focuses heavily on Tensor Product (TP) fusion and parallel scaling, yet leaves the upstream bidirectional geometric redundancies (e.g., Spherical Harmonics computation for </a:t>
            </a:r>
            <a:r>
              <a:rPr lang="en-US" altLang="ko-KR" sz="2000" b="1" dirty="0" err="1"/>
              <a:t>i</a:t>
            </a:r>
            <a:r>
              <a:rPr lang="en-US" altLang="ko-KR" sz="2000" b="1" dirty="0"/>
              <a:t> to j and j to </a:t>
            </a:r>
            <a:r>
              <a:rPr lang="en-US" altLang="ko-KR" sz="2000" b="1" dirty="0" err="1"/>
              <a:t>i</a:t>
            </a:r>
            <a:r>
              <a:rPr lang="en-US" altLang="ko-KR" sz="2000" b="1" dirty="0"/>
              <a:t>) completely unaddressed.</a:t>
            </a:r>
          </a:p>
          <a:p>
            <a:r>
              <a:rPr lang="en-US" altLang="ko-KR" b="1" dirty="0"/>
              <a:t>NEMP : Algorithmic Modification</a:t>
            </a:r>
          </a:p>
          <a:p>
            <a:pPr lvl="1"/>
            <a:r>
              <a:rPr lang="en-US" altLang="ko-KR" sz="2000" b="1" dirty="0"/>
              <a:t>Reduces overhead by aggregating features in the node space,  but fundamentally alters the original E(3)-equivariant message-passing formulation and its expressivity.</a:t>
            </a:r>
          </a:p>
          <a:p>
            <a:r>
              <a:rPr lang="en-US" altLang="ko-KR" b="1" dirty="0">
                <a:solidFill>
                  <a:srgbClr val="FF0000"/>
                </a:solidFill>
              </a:rPr>
              <a:t>I’ve not yet found any prior work that removes this </a:t>
            </a:r>
            <a:r>
              <a:rPr lang="en-US" altLang="ko-KR" b="1" dirty="0" err="1">
                <a:solidFill>
                  <a:srgbClr val="FF0000"/>
                </a:solidFill>
              </a:rPr>
              <a:t>rebundacy</a:t>
            </a:r>
            <a:r>
              <a:rPr lang="en-US" altLang="ko-KR" b="1" dirty="0">
                <a:solidFill>
                  <a:srgbClr val="FF0000"/>
                </a:solidFill>
              </a:rPr>
              <a:t> while strictly preserving the original formulation</a:t>
            </a:r>
          </a:p>
          <a:p>
            <a:endParaRPr lang="ko-KR" altLang="en-US" b="1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0EE7492-EAF0-AD19-CAAA-86C171E372CD}"/>
              </a:ext>
            </a:extLst>
          </p:cNvPr>
          <p:cNvSpPr txBox="1">
            <a:spLocks/>
          </p:cNvSpPr>
          <p:nvPr/>
        </p:nvSpPr>
        <p:spPr>
          <a:xfrm>
            <a:off x="50800" y="5532394"/>
            <a:ext cx="11757660" cy="10985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14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28600" algn="l" defTabSz="914400" rtl="0" eaLnBrk="1" latinLnBrk="1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800" dirty="0" err="1"/>
              <a:t>NequIP</a:t>
            </a:r>
            <a:r>
              <a:rPr lang="en-US" altLang="ko-KR" sz="800" dirty="0"/>
              <a:t>: </a:t>
            </a:r>
            <a:r>
              <a:rPr lang="en-US" altLang="ko-KR" sz="800" dirty="0" err="1"/>
              <a:t>Batzner</a:t>
            </a:r>
            <a:r>
              <a:rPr lang="en-US" altLang="ko-KR" sz="800" dirty="0"/>
              <a:t>, S. et al., E(3)-equivariant graph neural networks for data-efficient and accurate interatomic potentials. Nat Commun 13, 2453 (2022).</a:t>
            </a:r>
          </a:p>
          <a:p>
            <a:pPr>
              <a:lnSpc>
                <a:spcPct val="100000"/>
              </a:lnSpc>
            </a:pPr>
            <a:r>
              <a:rPr lang="en-US" altLang="ko-KR" sz="800" dirty="0" err="1"/>
              <a:t>SevenNet</a:t>
            </a:r>
            <a:r>
              <a:rPr lang="en-US" altLang="ko-KR" sz="800" dirty="0"/>
              <a:t>: MDIL-SNU., </a:t>
            </a:r>
            <a:r>
              <a:rPr lang="en-US" altLang="ko-KR" sz="800" dirty="0" err="1"/>
              <a:t>SevenNet</a:t>
            </a:r>
            <a:r>
              <a:rPr lang="en-US" altLang="ko-KR" sz="800" dirty="0"/>
              <a:t> - a graph neural network interatomic potential package supporting efficient multi-GPU parallel molecular dynamics simulations. J. Chem. Theory </a:t>
            </a:r>
            <a:r>
              <a:rPr lang="en-US" altLang="ko-KR" sz="800" dirty="0" err="1"/>
              <a:t>Comput</a:t>
            </a:r>
            <a:r>
              <a:rPr lang="en-US" altLang="ko-KR" sz="800" dirty="0"/>
              <a:t>. (2024).</a:t>
            </a:r>
          </a:p>
          <a:p>
            <a:pPr>
              <a:lnSpc>
                <a:spcPct val="100000"/>
              </a:lnSpc>
            </a:pPr>
            <a:r>
              <a:rPr lang="en-US" altLang="ko-KR" sz="800" dirty="0"/>
              <a:t>NEMP: Zhang, Y., &amp; Guo, H., Node-Equivariant Message Passing for Efficient and Accurate Machine Learning Interatomic Potentials. Chem. Sci. (2025).</a:t>
            </a:r>
          </a:p>
          <a:p>
            <a:pPr>
              <a:lnSpc>
                <a:spcPct val="100000"/>
              </a:lnSpc>
            </a:pPr>
            <a:r>
              <a:rPr lang="en-US" altLang="ko-KR" sz="800" dirty="0" err="1"/>
              <a:t>FlashTP</a:t>
            </a:r>
            <a:r>
              <a:rPr lang="en-US" altLang="ko-KR" sz="800" dirty="0"/>
              <a:t>: Lee, et al., </a:t>
            </a:r>
            <a:r>
              <a:rPr lang="en-US" altLang="ko-KR" sz="800" dirty="0" err="1"/>
              <a:t>FlashTP</a:t>
            </a:r>
            <a:r>
              <a:rPr lang="en-US" altLang="ko-KR" sz="800" dirty="0"/>
              <a:t>: Fused, Sparsity-Aware Tensor Product for Machine Learning Interatomic Potentials. ICML (2024).</a:t>
            </a:r>
          </a:p>
        </p:txBody>
      </p:sp>
    </p:spTree>
    <p:extLst>
      <p:ext uri="{BB962C8B-B14F-4D97-AF65-F5344CB8AC3E}">
        <p14:creationId xmlns:p14="http://schemas.microsoft.com/office/powerpoint/2010/main" val="3132271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8F43-F13A-1B1F-3435-983C88A7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33B15-9E6F-A005-0FDE-8968B91F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Proposed </a:t>
            </a:r>
            <a:r>
              <a:rPr lang="en-US" altLang="ko-KR" dirty="0" err="1"/>
              <a:t>Mehtod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B2A9C1-BFCF-547A-7687-3BAD318A6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9702" y="6522302"/>
            <a:ext cx="11757660" cy="21971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" altLang="ko-KR" sz="800" dirty="0" err="1">
                <a:solidFill>
                  <a:schemeClr val="bg1"/>
                </a:solidFill>
              </a:rPr>
              <a:t>Batzner</a:t>
            </a:r>
            <a:r>
              <a:rPr lang="en" altLang="ko-KR" sz="800" dirty="0">
                <a:solidFill>
                  <a:schemeClr val="bg1"/>
                </a:solidFill>
              </a:rPr>
              <a:t>, S., </a:t>
            </a:r>
            <a:r>
              <a:rPr lang="en" altLang="ko-KR" sz="800" dirty="0" err="1">
                <a:solidFill>
                  <a:schemeClr val="bg1"/>
                </a:solidFill>
              </a:rPr>
              <a:t>Musaelian</a:t>
            </a:r>
            <a:r>
              <a:rPr lang="en" altLang="ko-KR" sz="800" dirty="0">
                <a:solidFill>
                  <a:schemeClr val="bg1"/>
                </a:solidFill>
              </a:rPr>
              <a:t>, A., Sun, L. et al. E(3)-equivariant graph neural networks for data-efficient and accurate interatomic potentials. Nat Commun 13, 2453 (2022). </a:t>
            </a:r>
            <a:endParaRPr lang="en-US" altLang="ko-KR" sz="800" dirty="0">
              <a:solidFill>
                <a:schemeClr val="bg1"/>
              </a:solidFill>
              <a:cs typeface="Lato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EC1A68F-9D5B-7F95-E7BD-16E3F63FD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BD69390-484A-E9E6-BE76-9C78EC746110}"/>
              </a:ext>
            </a:extLst>
          </p:cNvPr>
          <p:cNvSpPr txBox="1">
            <a:spLocks/>
          </p:cNvSpPr>
          <p:nvPr/>
        </p:nvSpPr>
        <p:spPr>
          <a:xfrm>
            <a:off x="371242" y="3862133"/>
            <a:ext cx="11615018" cy="24719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14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00" indent="-228600" algn="l" defTabSz="914400" rtl="0" eaLnBrk="1" latinLnBrk="1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E(3)-equivariant models’ data expression be like Rotation + Translation + Reflection</a:t>
            </a:r>
          </a:p>
          <a:p>
            <a:pPr lvl="1"/>
            <a:r>
              <a:rPr lang="en-US" altLang="ko-KR" sz="1800" b="1" dirty="0"/>
              <a:t>Rotation : Spherical Harmonics : SO(3) irreps expression (scalar + vector + tensor)</a:t>
            </a:r>
          </a:p>
          <a:p>
            <a:pPr lvl="1"/>
            <a:r>
              <a:rPr lang="en-US" altLang="ko-KR" sz="1800" b="1" dirty="0"/>
              <a:t>Translation :  Absolute positions are removed by using relative coordinates so model become invariant  </a:t>
            </a:r>
          </a:p>
          <a:p>
            <a:pPr lvl="1"/>
            <a:r>
              <a:rPr lang="en-US" altLang="ko-KR" sz="1800" b="1" dirty="0"/>
              <a:t>Reflection :  Even / Odd parity is determined by the degree l </a:t>
            </a:r>
          </a:p>
          <a:p>
            <a:pPr lvl="1"/>
            <a:r>
              <a:rPr lang="en-US" altLang="ko-KR" sz="2800" b="1" dirty="0">
                <a:solidFill>
                  <a:srgbClr val="FF0000"/>
                </a:solidFill>
              </a:rPr>
              <a:t>Reflection symmetry is handled via parity transformation</a:t>
            </a:r>
          </a:p>
          <a:p>
            <a:pPr lvl="2"/>
            <a:endParaRPr lang="en-US" altLang="ko-KR" b="1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0B9ADA8-7138-6EBC-963A-6389096C8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921" y="922772"/>
            <a:ext cx="9519660" cy="298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091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CAD20-909D-DDAB-EFEE-D5C90F1BE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Reason Why choose this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55CEFC-8085-4F1B-D355-D2EAB2267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" y="1092866"/>
            <a:ext cx="11757660" cy="51460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t>1. The Bottleneck: Spherical Harmonics</a:t>
            </a:r>
          </a:p>
          <a:p>
            <a:pPr lvl="1">
              <a:lnSpc>
                <a:spcPct val="100000"/>
              </a:lnSpc>
            </a:pPr>
            <a:r>
              <a:t>Even with modern Cartesian-polynomial implementations, SH remains a visible geometric cost when the graph is large.</a:t>
            </a:r>
          </a:p>
          <a:p>
            <a:pPr lvl="1">
              <a:lnSpc>
                <a:spcPct val="100000"/>
              </a:lnSpc>
            </a:pPr>
            <a:r>
              <a:t>Profiling Insight: In our lab baseline profiling, SH takes roughly 18-26% of model time on large dense cases such as MPtrj and MD22 nanotube.</a:t>
            </a:r>
          </a:p>
          <a:p>
            <a:pPr>
              <a:lnSpc>
                <a:spcPct val="100000"/>
              </a:lnSpc>
            </a:pPr>
            <a:r>
              <a:t>2. Mathematical Foundation: Parity Property</a:t>
            </a:r>
          </a:p>
          <a:p>
            <a:pPr lvl="1">
              <a:lnSpc>
                <a:spcPct val="100000"/>
              </a:lnSpc>
            </a:pPr>
            <a:r>
              <a:t>The inputs for bidirectional edges (i to j and j to i) contain identical geometric information, differing only by an equivariant transformation.</a:t>
            </a:r>
          </a:p>
          <a:p>
            <a:pPr>
              <a:lnSpc>
                <a:spcPct val="100000"/>
              </a:lnSpc>
            </a:pPr>
            <a:r>
              <a:t>3. Proposed Solution: Sign Flip Reuse</a:t>
            </a:r>
          </a:p>
          <a:p>
            <a:pPr lvl="1">
              <a:lnSpc>
                <a:spcPct val="100000"/>
              </a:lnSpc>
            </a:pPr>
            <a:r>
              <a:t>Compute Once: Calculate spherical harmonics only for one canonical direction within each pair.</a:t>
            </a:r>
          </a:p>
          <a:p>
            <a:pPr lvl="1">
              <a:lnSpc>
                <a:spcPct val="100000"/>
              </a:lnSpc>
            </a:pPr>
            <a:r>
              <a:t>Instant Reuse: Recover the reverse edge by parity sign, instead of recomputing the same geometry.</a:t>
            </a:r>
          </a:p>
          <a:p>
            <a:pPr>
              <a:lnSpc>
                <a:spcPct val="100000"/>
              </a:lnSpc>
            </a:pPr>
            <a:endParaRPr lang="en-US" altLang="ko-KR" sz="2200" b="1" dirty="0"/>
          </a:p>
          <a:p>
            <a:pPr>
              <a:lnSpc>
                <a:spcPct val="100000"/>
              </a:lnSpc>
            </a:pPr>
            <a:endParaRPr lang="ko-KR" altLang="en-US" sz="22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2D5A78-CA3C-8A2C-AC9E-21B5EC35E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11</a:t>
            </a:fld>
            <a:endParaRPr lang="ko-KR" altLang="en-US" sz="1250" dirty="0"/>
          </a:p>
        </p:txBody>
      </p:sp>
    </p:spTree>
    <p:extLst>
      <p:ext uri="{BB962C8B-B14F-4D97-AF65-F5344CB8AC3E}">
        <p14:creationId xmlns:p14="http://schemas.microsoft.com/office/powerpoint/2010/main" val="943635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58034-6B6D-0671-C4E0-3F0621CA7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Proposed Method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EBB03D-DE8F-DC97-AFE0-707FDAF73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12</a:t>
            </a:fld>
            <a:endParaRPr lang="ko-KR" altLang="en-US" sz="125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F0ED62C-385E-BF75-4522-6DCE13459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6899" t="4427" r="12520" b="13626"/>
          <a:stretch>
            <a:fillRect/>
          </a:stretch>
        </p:blipFill>
        <p:spPr>
          <a:xfrm>
            <a:off x="860489" y="1026367"/>
            <a:ext cx="3303037" cy="5038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C08B0962-1E75-BC73-D040-8631BFA25C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60677" y="1026367"/>
                <a:ext cx="8122642" cy="46729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1" hangingPunct="1">
                  <a:lnSpc>
                    <a:spcPct val="14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76000" indent="-228600" algn="l" defTabSz="914400" rtl="0" eaLnBrk="1" latinLnBrk="1" hangingPunct="1">
                  <a:lnSpc>
                    <a:spcPct val="14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" altLang="ko-KR" sz="2000" b="1" dirty="0"/>
                  <a:t>Message composition</a:t>
                </a:r>
                <a:r>
                  <a:rPr lang="en-US" altLang="ko-KR" sz="2000" b="1" dirty="0"/>
                  <a:t>:</a:t>
                </a:r>
                <a:endParaRPr lang="en-US" altLang="ko-KR" sz="2000" b="1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  <m:d>
                          <m:d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  <m:d>
                          <m:d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altLang="ko-KR" sz="2000" b="1" i="1" smtClean="0">
                                        <a:latin typeface="Cambria Math" panose="02040503050406030204" pitchFamily="18" charset="0"/>
                                      </a:rPr>
                                      <m:t>𝒊𝒋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d>
                  </m:oMath>
                </a14:m>
                <a:endParaRPr lang="en" altLang="ko-KR" sz="2000" b="1" dirty="0"/>
              </a:p>
              <a:p>
                <a:r>
                  <a:rPr lang="en" altLang="ko-KR" sz="2000" b="1" dirty="0"/>
                  <a:t>Message reverse:</a:t>
                </a:r>
                <a:endParaRPr lang="en-US" altLang="ko-KR" sz="2000" b="1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𝒋𝒊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begChr m:val="{"/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  <m:d>
                          <m:d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  <m:d>
                          <m:d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altLang="ko-KR" sz="2000" b="1" i="1" smtClean="0">
                                        <a:latin typeface="Cambria Math" panose="02040503050406030204" pitchFamily="18" charset="0"/>
                                      </a:rPr>
                                      <m:t>𝒊𝒋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d>
                  </m:oMath>
                </a14:m>
                <a:endParaRPr lang="en" altLang="ko-KR" sz="2000" b="1" dirty="0"/>
              </a:p>
              <a:p>
                <a:r>
                  <a:rPr lang="en" altLang="ko-KR" sz="2000" b="1" dirty="0"/>
                  <a:t>Spherical Harmonics parity</a:t>
                </a:r>
                <a:r>
                  <a:rPr lang="en-US" altLang="ko-KR" sz="2000" b="1" dirty="0"/>
                  <a:t>:</a:t>
                </a:r>
                <a:endParaRPr lang="en-US" altLang="ko-KR" sz="2000" b="1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𝒀</m:t>
                    </m:r>
                    <m:d>
                      <m:d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d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𝒀</m:t>
                    </m:r>
                    <m:d>
                      <m:d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d>
                  </m:oMath>
                </a14:m>
                <a:endParaRPr lang="en-US" altLang="ko-KR" sz="2000" b="1" dirty="0"/>
              </a:p>
              <a:p>
                <a:r>
                  <a:rPr lang="en" altLang="ko-KR" sz="2000" b="1" dirty="0">
                    <a:solidFill>
                      <a:schemeClr val="tx1">
                        <a:lumMod val="50000"/>
                      </a:schemeClr>
                    </a:solidFill>
                  </a:rPr>
                  <a:t>The inputs contain the same information; they differ only by an equivariant transformation.</a:t>
                </a:r>
              </a:p>
              <a:p>
                <a:pPr marL="0" indent="0">
                  <a:buNone/>
                </a:pPr>
                <a:r>
                  <a:rPr lang="en-US" altLang="ko-KR" sz="2000" b="1" dirty="0">
                    <a:solidFill>
                      <a:srgbClr val="C00000"/>
                    </a:solidFill>
                  </a:rPr>
                  <a:t>Enables instant reuse of pre-computed values through a sign flip</a:t>
                </a:r>
                <a:r>
                  <a:rPr lang="en-US" altLang="ko-KR" sz="2000" b="1" dirty="0">
                    <a:solidFill>
                      <a:schemeClr val="tx1">
                        <a:lumMod val="50000"/>
                      </a:schemeClr>
                    </a:solidFill>
                  </a:rPr>
                  <a:t>.</a:t>
                </a:r>
                <a:endParaRPr lang="en" altLang="ko-KR" sz="2000" b="1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endParaRPr lang="en" altLang="ko-KR" sz="2000" b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C08B0962-1E75-BC73-D040-8631BFA25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677" y="1026367"/>
                <a:ext cx="8122642" cy="4672930"/>
              </a:xfrm>
              <a:prstGeom prst="rect">
                <a:avLst/>
              </a:prstGeom>
              <a:blipFill>
                <a:blip r:embed="rId4"/>
                <a:stretch>
                  <a:fillRect l="-750" b="-93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05740" y="927088"/>
            <a:ext cx="11757660" cy="5146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2229"/>
                </a:solidFill>
              </a:rPr>
              <a:t>1. Pair Metadata Construction</a:t>
            </a:r>
          </a:p>
          <a:p>
            <a:r>
              <a:rPr sz="1900" b="0">
                <a:solidFill>
                  <a:srgbClr val="1C2229"/>
                </a:solidFill>
              </a:rPr>
              <a:t>Group (i to j) and (j to i) into one undirected pair and keep forward / reverse indices explicitly.</a:t>
            </a:r>
          </a:p>
          <a:p>
            <a:r>
              <a:rPr sz="2200" b="1">
                <a:solidFill>
                  <a:srgbClr val="1C2229"/>
                </a:solidFill>
              </a:rPr>
              <a:t>2. Pair-shared Geometry</a:t>
            </a:r>
          </a:p>
          <a:p>
            <a:r>
              <a:rPr sz="1900" b="0">
                <a:solidFill>
                  <a:srgbClr val="1C2229"/>
                </a:solidFill>
              </a:rPr>
              <a:t>Compute distance, radial basis, cutoff, and spherical harmonics once per pair instead of once per directed edge.</a:t>
            </a:r>
          </a:p>
          <a:p>
            <a:r>
              <a:rPr sz="2200" b="1">
                <a:solidFill>
                  <a:srgbClr val="1C2229"/>
                </a:solidFill>
              </a:rPr>
              <a:t>3. Exact Reverse Recovery</a:t>
            </a:r>
          </a:p>
          <a:p>
            <a:r>
              <a:rPr sz="1900" b="0">
                <a:solidFill>
                  <a:srgbClr val="1C2229"/>
                </a:solidFill>
              </a:rPr>
              <a:t>Recover reverse spherical harmonics with parity sign, not with a second SH evaluation.</a:t>
            </a:r>
          </a:p>
          <a:p>
            <a:r>
              <a:rPr sz="2200" b="1">
                <a:solidFill>
                  <a:srgbClr val="1C2229"/>
                </a:solidFill>
              </a:rPr>
              <a:t>4. Current Implementation Boundary</a:t>
            </a:r>
          </a:p>
          <a:p>
            <a:r>
              <a:rPr sz="1900" b="0">
                <a:solidFill>
                  <a:srgbClr val="1C2229"/>
                </a:solidFill>
              </a:rPr>
              <a:t>weight_nn is also reused at pair level, but tensor product and aggregation are still executed on directed edges.</a:t>
            </a:r>
          </a:p>
        </p:txBody>
      </p:sp>
    </p:spTree>
    <p:extLst>
      <p:ext uri="{BB962C8B-B14F-4D97-AF65-F5344CB8AC3E}">
        <p14:creationId xmlns:p14="http://schemas.microsoft.com/office/powerpoint/2010/main" val="1884763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CE092-F63F-6B45-042B-3095BBAB6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Plan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7CFEBC-A9D6-A1D3-F9A9-D18E5D120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Baselines</a:t>
            </a:r>
          </a:p>
          <a:p>
            <a:pPr lvl="1"/>
            <a:r>
              <a:t>SevenNet e3nn baseline / SevenNet + pair execution(full) / FlashTP reference</a:t>
            </a:r>
          </a:p>
          <a:p>
            <a:r>
              <a:t>Workloads</a:t>
            </a:r>
          </a:p>
          <a:p>
            <a:pPr lvl="1"/>
            <a:r>
              <a:t>Small sparse: SPICE 2023, ANI-1x</a:t>
            </a:r>
          </a:p>
          <a:p>
            <a:pPr lvl="1"/>
            <a:r>
              <a:t>Small dense: phononDB, selected periodic crystals</a:t>
            </a:r>
          </a:p>
          <a:p>
            <a:pPr lvl="1"/>
            <a:r>
              <a:t>Large sparse: OMol25 validation, OC20 validation</a:t>
            </a:r>
          </a:p>
          <a:p>
            <a:pPr lvl="2"/>
            <a:r>
              <a:t>Large dense: MPtrj, MD22 nanotube, OMat24</a:t>
            </a:r>
            <a:endParaRPr lang="ko-KR" altLang="en-US" sz="2000" b="1" dirty="0"/>
          </a:p>
          <a:p>
            <a:pPr lvl="1"/>
            <a:r>
              <a:t>Evaluation Metrics</a:t>
            </a:r>
          </a:p>
          <a:p>
            <a:pPr lvl="2"/>
            <a:r>
              <a:t>Energy-force exactness</a:t>
            </a:r>
          </a:p>
          <a:p>
            <a:pPr lvl="2"/>
            <a:r>
              <a:t>Cold / steady latency + stage profiling + GPU utilization</a:t>
            </a:r>
          </a:p>
          <a:p>
            <a:pPr lvl="2"/>
            <a:r>
              <a:t>Size-density analysis and quadrant comparison</a:t>
            </a:r>
          </a:p>
          <a:p>
            <a:pPr lvl="1"/>
            <a:r>
              <a:t>Scope: single-GPU lab benchmark first, multi-GPU scaling next</a:t>
            </a:r>
            <a:endParaRPr lang="en-US" altLang="ko-KR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434D73-B3FA-AC1B-9263-FA0C8542B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13</a:t>
            </a:fld>
            <a:endParaRPr lang="ko-KR" altLang="en-US" sz="1250" dirty="0"/>
          </a:p>
        </p:txBody>
      </p:sp>
    </p:spTree>
    <p:extLst>
      <p:ext uri="{BB962C8B-B14F-4D97-AF65-F5344CB8AC3E}">
        <p14:creationId xmlns:p14="http://schemas.microsoft.com/office/powerpoint/2010/main" val="3714581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770AA-612B-D63E-B067-9FCAACD31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Discussion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30D821-A0BB-F42F-0E6F-5916FF999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" y="1092866"/>
            <a:ext cx="11757660" cy="5146052"/>
          </a:xfrm>
        </p:spPr>
        <p:txBody>
          <a:bodyPr>
            <a:normAutofit lnSpcReduction="10000"/>
          </a:bodyPr>
          <a:lstStyle/>
          <a:p>
            <a:r>
              <a:t>Modern SH Implementation</a:t>
            </a:r>
          </a:p>
          <a:p>
            <a:pPr lvl="1"/>
            <a:r>
              <a:t>Uses fast Cartesian polynomials, so the win is not from replacing slow trigonometric code.</a:t>
            </a:r>
          </a:p>
          <a:p>
            <a:r>
              <a:t>Current Bottleneck</a:t>
            </a:r>
          </a:p>
          <a:p>
            <a:pPr lvl="1"/>
            <a:r>
              <a:t>The real gain comes from removing duplicated geometry, SH, and pair-weight work on reverse edges.</a:t>
            </a:r>
          </a:p>
          <a:p>
            <a:r>
              <a:t>Current Limitation</a:t>
            </a:r>
          </a:p>
          <a:p>
            <a:pPr lvl="1"/>
            <a:r>
              <a:t>TP and aggregation are still directed-edge operations, so the benefit is strongest only on large dense graphs.</a:t>
            </a:r>
          </a:p>
          <a:p>
            <a:r>
              <a:t>Next Step</a:t>
            </a:r>
          </a:p>
          <a:p>
            <a:pPr lvl="1"/>
            <a:r>
              <a:t>Pair-major TP plus backend co-design is required before claiming consistent end-to-end acceleration over FlashTP.</a:t>
            </a:r>
          </a:p>
          <a:p>
            <a:endParaRPr kumimoji="1" lang="ko-KR" altLang="en-US" sz="20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C71530-F5A5-E3EB-3764-86BB19605E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5CECA1-5C9B-4693-A1BD-3F65156FCD02}" type="slidenum">
              <a:rPr lang="ko-KR" altLang="en-US" smtClean="0"/>
              <a:pPr/>
              <a:t>14</a:t>
            </a:fld>
            <a:endParaRPr lang="ko-KR" altLang="en-US" sz="1250" dirty="0"/>
          </a:p>
        </p:txBody>
      </p:sp>
    </p:spTree>
    <p:extLst>
      <p:ext uri="{BB962C8B-B14F-4D97-AF65-F5344CB8AC3E}">
        <p14:creationId xmlns:p14="http://schemas.microsoft.com/office/powerpoint/2010/main" val="1654299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3">
      <a:dk1>
        <a:srgbClr val="3B3B3B"/>
      </a:dk1>
      <a:lt1>
        <a:sysClr val="window" lastClr="FFFFFF"/>
      </a:lt1>
      <a:dk2>
        <a:srgbClr val="2C2C2C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to">
      <a:majorFont>
        <a:latin typeface="roboto"/>
        <a:ea typeface="roboto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2290</Words>
  <Application>Microsoft Office PowerPoint</Application>
  <PresentationFormat>와이드스크린</PresentationFormat>
  <Paragraphs>156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Wingdings</vt:lpstr>
      <vt:lpstr>lato</vt:lpstr>
      <vt:lpstr>맑은 고딕</vt:lpstr>
      <vt:lpstr>Arial</vt:lpstr>
      <vt:lpstr>roboto</vt:lpstr>
      <vt:lpstr>lato</vt:lpstr>
      <vt:lpstr>Roboto Black</vt:lpstr>
      <vt:lpstr>Cambria Math</vt:lpstr>
      <vt:lpstr>Office 테마</vt:lpstr>
      <vt:lpstr>PowerPoint 프레젠테이션</vt:lpstr>
      <vt:lpstr>PowerPoint 프레젠테이션</vt:lpstr>
      <vt:lpstr>GNN-IP R&amp;D Proposal</vt:lpstr>
      <vt:lpstr>GNN-IP R&amp;D Proposal</vt:lpstr>
      <vt:lpstr>Equivariant Model PipeLine (NequIP) </vt:lpstr>
      <vt:lpstr>Problem</vt:lpstr>
      <vt:lpstr>Challenge</vt:lpstr>
      <vt:lpstr>Challenge</vt:lpstr>
      <vt:lpstr>Related Work</vt:lpstr>
      <vt:lpstr>Proposed Mehtod</vt:lpstr>
      <vt:lpstr>Reason Why choose this </vt:lpstr>
      <vt:lpstr>Proposed Method</vt:lpstr>
      <vt:lpstr>Experiment Plan</vt:lpstr>
      <vt:lpstr>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김민창</dc:creator>
  <cp:keywords/>
  <dc:description/>
  <cp:lastModifiedBy>김 민창</cp:lastModifiedBy>
  <cp:revision>969</cp:revision>
  <dcterms:created xsi:type="dcterms:W3CDTF">2020-03-06T02:35:36Z</dcterms:created>
  <dcterms:modified xsi:type="dcterms:W3CDTF">2026-03-30T20:17:14Z</dcterms:modified>
  <cp:category/>
</cp:coreProperties>
</file>