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04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2129"/>
                </a:solidFill>
              </a:rPr>
              <a:t>GNN-IP Pair Execution 제안 세미나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9784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86475"/>
                </a:solidFill>
              </a:defRPr>
            </a:pPr>
            <a:r>
              <a:t>Equivariant GNN 기반 interatomic potential의 중복 기하 연산과 node-centric reduction 오버헤드를 줄이기 위한 실행 구조 제안</a:t>
            </a:r>
          </a:p>
        </p:txBody>
      </p:sp>
      <p:pic>
        <p:nvPicPr>
          <p:cNvPr id="5" name="Picture 4" descr="SevenN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325880"/>
            <a:ext cx="1554480" cy="6441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4800600"/>
            <a:ext cx="4480560" cy="822960"/>
          </a:xfrm>
          <a:prstGeom prst="roundRect">
            <a:avLst/>
          </a:prstGeom>
          <a:solidFill>
            <a:srgbClr val="EB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7D2F11"/>
                </a:solidFill>
              </a:defRPr>
            </a:pPr>
            <a:r>
              <a:t>핵심 키워드: Pair Execution / Backend Co-Design / Topology 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SevenNet / Proposal Seminar / 2026-03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왜 지금 이 문제를 보나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현재 GNN-IP 추론은 하나의 물리적 상호작용을 양방향 directed edge로 다루기 때문에 공유 가능한 기하 정보가 반복 처리된다.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문제는 단순한 tensor-product 속도 부족이 아니라 그래프를 표현하는 단위와 실행 순서가 실제 연산 구조와 어긋난다는 점에 있다.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평균 이웃 수가 높은 short-range MLIP에서는 이 중복이 계산량, 메모리 트래픽, 집계 비용, 분산 통신 비용으로 동시에 확대된다.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현재 실행 경로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28800"/>
            <a:ext cx="1645920" cy="731520"/>
          </a:xfrm>
          <a:prstGeom prst="roundRect">
            <a:avLst/>
          </a:prstGeom>
          <a:solidFill>
            <a:srgbClr val="EBD8CB"/>
          </a:solidFill>
          <a:ln>
            <a:solidFill>
              <a:srgbClr val="C55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129"/>
                </a:solidFill>
              </a:defRPr>
            </a:pPr>
            <a:r>
              <a:t>Directed edge graph</a:t>
            </a:r>
          </a:p>
        </p:txBody>
      </p:sp>
      <p:sp>
        <p:nvSpPr>
          <p:cNvPr id="4" name="Chevron 3"/>
          <p:cNvSpPr/>
          <p:nvPr/>
        </p:nvSpPr>
        <p:spPr>
          <a:xfrm>
            <a:off x="2350008" y="1993392"/>
            <a:ext cx="201168" cy="384048"/>
          </a:xfrm>
          <a:prstGeom prst="chevron">
            <a:avLst/>
          </a:prstGeom>
          <a:solidFill>
            <a:srgbClr val="586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0" y="1828800"/>
            <a:ext cx="1645920" cy="731520"/>
          </a:xfrm>
          <a:prstGeom prst="roundRect">
            <a:avLst/>
          </a:prstGeom>
          <a:solidFill>
            <a:srgbClr val="D9E5EE"/>
          </a:solidFill>
          <a:ln>
            <a:solidFill>
              <a:srgbClr val="304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129"/>
                </a:solidFill>
              </a:defRPr>
            </a:pPr>
            <a:r>
              <a:t>Radial / cutoff / SH</a:t>
            </a:r>
          </a:p>
        </p:txBody>
      </p:sp>
      <p:sp>
        <p:nvSpPr>
          <p:cNvPr id="6" name="Chevron 5"/>
          <p:cNvSpPr/>
          <p:nvPr/>
        </p:nvSpPr>
        <p:spPr>
          <a:xfrm>
            <a:off x="4224527" y="1993392"/>
            <a:ext cx="201168" cy="384048"/>
          </a:xfrm>
          <a:prstGeom prst="chevron">
            <a:avLst/>
          </a:prstGeom>
          <a:solidFill>
            <a:srgbClr val="586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1645920" cy="731520"/>
          </a:xfrm>
          <a:prstGeom prst="roundRect">
            <a:avLst/>
          </a:prstGeom>
          <a:solidFill>
            <a:srgbClr val="EBD8CB"/>
          </a:solidFill>
          <a:ln>
            <a:solidFill>
              <a:srgbClr val="C55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129"/>
                </a:solidFill>
              </a:defRPr>
            </a:pPr>
            <a:r>
              <a:t>weight_nn</a:t>
            </a:r>
          </a:p>
        </p:txBody>
      </p:sp>
      <p:sp>
        <p:nvSpPr>
          <p:cNvPr id="8" name="Chevron 7"/>
          <p:cNvSpPr/>
          <p:nvPr/>
        </p:nvSpPr>
        <p:spPr>
          <a:xfrm>
            <a:off x="6099047" y="1993392"/>
            <a:ext cx="201168" cy="384048"/>
          </a:xfrm>
          <a:prstGeom prst="chevron">
            <a:avLst/>
          </a:prstGeom>
          <a:solidFill>
            <a:srgbClr val="586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59" y="1828800"/>
            <a:ext cx="1645920" cy="731520"/>
          </a:xfrm>
          <a:prstGeom prst="roundRect">
            <a:avLst/>
          </a:prstGeom>
          <a:solidFill>
            <a:srgbClr val="D9E5EE"/>
          </a:solidFill>
          <a:ln>
            <a:solidFill>
              <a:srgbClr val="304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129"/>
                </a:solidFill>
              </a:defRPr>
            </a:pPr>
            <a:r>
              <a:t>Tensor product</a:t>
            </a:r>
          </a:p>
        </p:txBody>
      </p:sp>
      <p:sp>
        <p:nvSpPr>
          <p:cNvPr id="10" name="Chevron 9"/>
          <p:cNvSpPr/>
          <p:nvPr/>
        </p:nvSpPr>
        <p:spPr>
          <a:xfrm>
            <a:off x="7973567" y="1993392"/>
            <a:ext cx="201168" cy="384048"/>
          </a:xfrm>
          <a:prstGeom prst="chevron">
            <a:avLst/>
          </a:prstGeom>
          <a:solidFill>
            <a:srgbClr val="586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1645920" cy="731520"/>
          </a:xfrm>
          <a:prstGeom prst="roundRect">
            <a:avLst/>
          </a:prstGeom>
          <a:solidFill>
            <a:srgbClr val="EBD8CB"/>
          </a:solidFill>
          <a:ln>
            <a:solidFill>
              <a:srgbClr val="C55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129"/>
                </a:solidFill>
              </a:defRPr>
            </a:pPr>
            <a:r>
              <a:t>Node sum reduction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848088" y="1993392"/>
            <a:ext cx="201168" cy="384048"/>
          </a:xfrm>
          <a:prstGeom prst="chevron">
            <a:avLst/>
          </a:prstGeom>
          <a:solidFill>
            <a:srgbClr val="586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0" y="1828800"/>
            <a:ext cx="1645920" cy="731520"/>
          </a:xfrm>
          <a:prstGeom prst="roundRect">
            <a:avLst/>
          </a:prstGeom>
          <a:solidFill>
            <a:srgbClr val="D9E5EE"/>
          </a:solidFill>
          <a:ln>
            <a:solidFill>
              <a:srgbClr val="304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2129"/>
                </a:solidFill>
              </a:defRPr>
            </a:pPr>
            <a:r>
              <a:t>Energy / Force / Stress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86475"/>
                </a:solidFill>
              </a:defRPr>
            </a:pPr>
            <a:r>
              <a:t>현재 경로는 edge 중심 생성과 node 중심 집계를 분리해 두며, reverse edge에서 공유 가능한 계산도 그대로 반복한다.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코드에서 확인한 병목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기하 정보 재사용은 가능하지만, 현재 구현은 reverse edge의 geometry와 filter를 생성하는 쪽이 여전히 hot path에 놓여 있다.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pair metadata 생성과 topology cache 검사는 Python/C++ 모두 일반적인 lookup 구조에 의존해 control-path 비용을 남긴다.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backend 선택은 아직 정적 또는 휴리스틱 수준이며, FlashTP와 pair execution을 함께 쓸 때 최적 경로가 자동으로 보장되지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이번 세미나의 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문제 1: 동일 상호작용에서 공유 가능한 기하 정보가 directed edge 기준으로 중복 생성된다.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문제 2: edge에서 생성된 message가 다시 node 기준 reduction으로 모이면서 중간 결과 저장과 메모리 이동이 커진다.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문제 3: 분산 실행에서는 pair 정보와 backward 경로가 실제 필요 이상으로 일반적인 형태로 유지될 가능성이 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제안 A: Exact Pair-Symmetric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기본 실행 단위를 directed edge가 아니라 하나의 상호작용 pair로 다시 정의한다.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거리, radial basis, cutoff, pair-level SH는 한 번만 만들고 reverse 방향은 parity-aware transform으로 복원한다.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최종 message 자체는 source feature가 다르므로 공유하지 않되, geometry와 filter 생성 비용은 제거 가능한 범위까지 제거한다.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제안 B: Backend Co-Design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FlashTP와 같은 가속 backend에서는 pair-major layout을 가능한 오래 유지해 directed expansion 시점을 뒤로 미룬다.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runtime이 backend, graph 규모, degree, device capability를 보고 baseline / geometry_only / full 중 최적 경로를 고르게 한다.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핵심은 공통 옵션을 유지하되, backend마다 같은 구현을 억지로 쓰지 않고 가장 빠른 하위 경로를 선택하도록 만드는 것이다.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제안 C: Topology-Epoch Caching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MD에서는 좌표는 자주 바뀌어도 neighbor topology는 일정 구간 유지될 수 있다.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이 구간에서는 pair plan, reverse map, parity metadata, reduction schedule, distributed comm metadata를 재사용한다.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핵심은 단순 캐시가 아니라, 어떤 이벤트에서 무효화되는지까지 포함한 topology-epoch 실행 모델을 정의하는 것이다.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제안 D: Distributed Pair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분산 경로에서는 ghost 정보를 무조건 많이 들고 가는 대신, pair-aware schedule과 partial reduction 관점으로 통신을 다시 본다.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특히 scalar energy readout에 실제로 기여하는 경로만 남기는 scalar-only backward pruning 가능성을 본다.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이 방향은 단순 partitioning이 아니라, exactness를 유지하면서 통신되는 정보의 구조를 바꾸는 제안이다.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기대효과와 리스크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663440" cy="4297680"/>
          </a:xfrm>
          <a:prstGeom prst="roundRect">
            <a:avLst/>
          </a:prstGeom>
          <a:solidFill>
            <a:srgbClr val="D9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129"/>
                </a:solidFill>
              </a:defRPr>
            </a:pPr>
            <a: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148840"/>
            <a:ext cx="40233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2129"/>
                </a:solidFill>
              </a:defRPr>
            </a:pPr>
            <a:r>
              <a:t>중복 기하 연산 감소</a:t>
            </a:r>
          </a:p>
          <a:p>
            <a:pPr>
              <a:spcAft>
                <a:spcPts val="1200"/>
              </a:spcAft>
              <a:defRPr sz="1800">
                <a:solidFill>
                  <a:srgbClr val="192129"/>
                </a:solidFill>
              </a:defRPr>
            </a:pPr>
            <a:r>
              <a:t>메모리 트래픽 완화</a:t>
            </a:r>
          </a:p>
          <a:p>
            <a:pPr>
              <a:spcAft>
                <a:spcPts val="1200"/>
              </a:spcAft>
              <a:defRPr sz="1800">
                <a:solidFill>
                  <a:srgbClr val="192129"/>
                </a:solidFill>
              </a:defRPr>
            </a:pPr>
            <a:r>
              <a:t>backend별 최적 실행 경로 확보</a:t>
            </a:r>
          </a:p>
          <a:p>
            <a:pPr>
              <a:spcAft>
                <a:spcPts val="1200"/>
              </a:spcAft>
              <a:defRPr sz="1800">
                <a:solidFill>
                  <a:srgbClr val="192129"/>
                </a:solidFill>
              </a:defRPr>
            </a:pPr>
            <a:r>
              <a:t>분산 경로의 통신 구조 재설계 가능성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4663440" cy="4297680"/>
          </a:xfrm>
          <a:prstGeom prst="roundRect">
            <a:avLst/>
          </a:prstGeom>
          <a:solidFill>
            <a:srgbClr val="EB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129"/>
                </a:solidFill>
              </a:defRPr>
            </a:pPr>
            <a:r>
              <a:t>리스크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2148840"/>
            <a:ext cx="40233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2129"/>
                </a:solidFill>
              </a:defRPr>
            </a:pPr>
            <a:r>
              <a:t>pair metadata 생성 자체가 새로운 병목이 될 수 있음</a:t>
            </a:r>
          </a:p>
          <a:p>
            <a:pPr>
              <a:spcAft>
                <a:spcPts val="1200"/>
              </a:spcAft>
              <a:defRPr sz="1800">
                <a:solidFill>
                  <a:srgbClr val="192129"/>
                </a:solidFill>
              </a:defRPr>
            </a:pPr>
            <a:r>
              <a:t>FlashTP 등 가속 backend에서 조기 expansion이 이득을 상쇄할 수 있음</a:t>
            </a:r>
          </a:p>
          <a:p>
            <a:pPr>
              <a:spcAft>
                <a:spcPts val="1200"/>
              </a:spcAft>
              <a:defRPr sz="1800">
                <a:solidFill>
                  <a:srgbClr val="192129"/>
                </a:solidFill>
              </a:defRPr>
            </a:pPr>
            <a:r>
              <a:t>distributed exactness 증명과 backward pruning 조건 정리가 필요함</a:t>
            </a:r>
          </a:p>
          <a:p>
            <a:pPr>
              <a:spcAft>
                <a:spcPts val="1200"/>
              </a:spcAft>
              <a:defRPr sz="1800">
                <a:solidFill>
                  <a:srgbClr val="192129"/>
                </a:solidFill>
              </a:defRPr>
            </a:pPr>
            <a:r>
              <a:t>topology cache invalidation을 잘못 정의하면 correctness가 깨질 수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검증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정확성: energy, atomic energy, force, stress parity와 long-run MD 통계량을 함께 확인한다.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성능: baseline / geometry_only / full / backend auto policy를 단일 GPU와 분산 경로에서 모두 비교한다.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ablation: pair execution, fused reduction, topology cache, distributed pruning을 독립적으로 떼어 효과를 분리한다.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세미나에서 가져갈 핵심 메시지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이 연구는 새 MLIP 모델 제안이 아니라, 기존 equivariant MLIP의 실행 구조를 exact하게 재구성하는 연구다.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핵심 novelty 후보는 pair execution 그 자체보다도 backend co-design, topology-epoch runtime, distributed exact pruning에 있다.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즉, “어떤 연산자를 빠르게 만들 것인가”보다 “어떤 단위로 표현하고 어떤 시점에 계산할 것인가”가 중심 질문이다.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129"/>
                </a:solidFill>
              </a:defRPr>
            </a:pPr>
            <a:r>
              <a:t>마무리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05840" cy="73152"/>
          </a:xfrm>
          <a:prstGeom prst="rect">
            <a:avLst/>
          </a:prstGeom>
          <a:solidFill>
            <a:srgbClr val="C55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단기 목표: pair plan hot path 제거와 backend autotuning 기준 정립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중기 목표: FlashTP pair-major adapter와 topology-epoch caching 정식화</a:t>
            </a:r>
          </a:p>
          <a:p>
            <a:pPr>
              <a:spcAft>
                <a:spcPts val="1400"/>
              </a:spcAft>
              <a:defRPr sz="2200">
                <a:solidFill>
                  <a:srgbClr val="192129"/>
                </a:solidFill>
              </a:defRPr>
            </a:pPr>
            <a:r>
              <a:t>장기 목표: distributed exact pruning까지 포함한 시스템 논문 스토리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86475"/>
                </a:solidFill>
              </a:rPr>
              <a:t>Proposal Seminar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